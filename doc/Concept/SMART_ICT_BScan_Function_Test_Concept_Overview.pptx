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1"/>
  </p:notesMasterIdLst>
  <p:sldIdLst>
    <p:sldId id="299" r:id="rId2"/>
    <p:sldId id="303" r:id="rId3"/>
    <p:sldId id="304" r:id="rId4"/>
    <p:sldId id="310" r:id="rId5"/>
    <p:sldId id="305" r:id="rId6"/>
    <p:sldId id="306" r:id="rId7"/>
    <p:sldId id="307" r:id="rId8"/>
    <p:sldId id="308" r:id="rId9"/>
    <p:sldId id="309" r:id="rId1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CBCD"/>
    <a:srgbClr val="359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6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0D0E4-B194-4342-99B8-E890CA729E74}" type="datetimeFigureOut">
              <a:rPr lang="x-none" smtClean="0"/>
              <a:t>26.02.2021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6C4F1-6C68-45BD-8220-812B16D74F37}" type="slidenum">
              <a:rPr lang="x-none" smtClean="0"/>
              <a:t>‹Nr.›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83352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31AE-968E-404D-976A-7986A14B1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8776B-BA7E-44EF-9F52-4AC7AEC82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5826E-1973-463B-8F48-45B132BF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CADAF-1C83-4082-A7A5-C84FF5732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2570E-F85B-43A1-A2C8-96A94F0C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1847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A5BE8-0931-4A1A-A8EE-4D1A440B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E2FC3-391A-4D4D-8080-5CEC1E241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38833-A763-4BF8-AA9D-BB9282D86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D3A1C-CF72-42E9-A7D0-4F9E95E3E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7CF41-2495-415C-9EB1-7E76AA94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349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DB85-7758-4564-B845-08078F7A0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F4368-90FA-4884-A82F-3BB7F7793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90DAA-3E5D-4A50-99C1-3B475F44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2157F-930E-446D-B1A6-288F0455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FE85C-4CE8-4350-A330-40E03A9A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0829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BF0F4-1C9F-43F2-B28F-DAC07E30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A82D-3F61-4ED6-AF40-C99612865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0890A-8D21-4956-AA2B-A4C67B192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B0D64-70B2-4132-9067-2F1B14F1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B3F85-A48D-4CD0-BA26-22F1DD28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C287-CD2C-45F4-8823-9A78A224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9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BC821-FFD2-4602-840F-2D099230E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186A6-E0D2-4BD3-8413-CD256FC46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A3131-4AB7-41D2-9DE8-8D72F2578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A0BC1-2F58-4EF7-B168-1777764F7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44ECD2-485E-41C9-8FC9-2A535AF468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AC8E41-800F-4914-B64A-AB045C83B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0AC57E-7B0E-4A0A-AAC8-D05F5A650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99F7E3-D14B-42E2-852A-D1744C4A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19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C815-FF61-4E99-82AC-7776BDE06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DEDA82-42FA-4D53-A01B-8200C5F5A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11A9E-FDD8-497E-9E3F-802E6A288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9BEB6-7A89-47E7-9535-8C69EFCF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5120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EC289-A68E-4BB1-9597-44BBEDCE2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325B9-09F9-4138-871C-8D043046C287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F9658-9EC0-4D4A-B06D-34693F73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194C8-AD5A-4D1C-BFF9-2C3A5EEB0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C787-B868-46F0-A9E1-0168C2DF6C24}" type="slidenum">
              <a:rPr lang="de-DE" smtClean="0"/>
              <a:t>‹Nr.›</a:t>
            </a:fld>
            <a:endParaRPr lang="de-D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0636A6-FE23-4FC5-81CB-463B2CEF4A14}"/>
              </a:ext>
            </a:extLst>
          </p:cNvPr>
          <p:cNvCxnSpPr>
            <a:cxnSpLocks/>
          </p:cNvCxnSpPr>
          <p:nvPr/>
        </p:nvCxnSpPr>
        <p:spPr>
          <a:xfrm>
            <a:off x="2530433" y="2585855"/>
            <a:ext cx="0" cy="18673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91F4317-6FC9-4755-8127-A2D2F9CE5A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845" y="3099792"/>
            <a:ext cx="3538537" cy="8667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2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C666F-8712-4693-88F5-3C4594F2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C6659-58AA-4DDC-B155-E29F8702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ED84E-F408-466B-9142-D95E0E96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8337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C666F-8712-4693-88F5-3C4594F2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C6659-58AA-4DDC-B155-E29F8702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ED84E-F408-466B-9142-D95E0E96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414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6EEBDBA-02E4-4FD9-A5F5-BBD376320F62}"/>
              </a:ext>
            </a:extLst>
          </p:cNvPr>
          <p:cNvSpPr/>
          <p:nvPr/>
        </p:nvSpPr>
        <p:spPr>
          <a:xfrm rot="16200000" flipH="1">
            <a:off x="5101807" y="-232197"/>
            <a:ext cx="6858000" cy="7322391"/>
          </a:xfrm>
          <a:prstGeom prst="triangle">
            <a:avLst>
              <a:gd name="adj" fmla="val 100000"/>
            </a:avLst>
          </a:prstGeom>
          <a:solidFill>
            <a:schemeClr val="accent3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5D0D1C3-5182-4024-A48A-374246DDC38C}"/>
              </a:ext>
            </a:extLst>
          </p:cNvPr>
          <p:cNvSpPr/>
          <p:nvPr/>
        </p:nvSpPr>
        <p:spPr>
          <a:xfrm rot="16200000" flipH="1">
            <a:off x="5860211" y="526211"/>
            <a:ext cx="6858000" cy="5805577"/>
          </a:xfrm>
          <a:prstGeom prst="triangle">
            <a:avLst>
              <a:gd name="adj" fmla="val 100000"/>
            </a:avLst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2B352E1-482C-4B48-AB98-6634B3143497}"/>
              </a:ext>
            </a:extLst>
          </p:cNvPr>
          <p:cNvSpPr/>
          <p:nvPr/>
        </p:nvSpPr>
        <p:spPr>
          <a:xfrm>
            <a:off x="8781691" y="0"/>
            <a:ext cx="3410309" cy="6858000"/>
          </a:xfrm>
          <a:prstGeom prst="triangle">
            <a:avLst>
              <a:gd name="adj" fmla="val 100000"/>
            </a:avLst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C666F-8712-4693-88F5-3C4594F2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C6659-58AA-4DDC-B155-E29F8702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ED84E-F408-466B-9142-D95E0E96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  <p:pic>
        <p:nvPicPr>
          <p:cNvPr id="11" name="Grafik 8">
            <a:extLst>
              <a:ext uri="{FF2B5EF4-FFF2-40B4-BE49-F238E27FC236}">
                <a16:creationId xmlns:a16="http://schemas.microsoft.com/office/drawing/2014/main" id="{B9B3B6E4-38AB-4C2C-B4DB-BC54003F35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600" y="189215"/>
            <a:ext cx="1598512" cy="40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92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C666F-8712-4693-88F5-3C4594F2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C6659-58AA-4DDC-B155-E29F8702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ED84E-F408-466B-9142-D95E0E96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1952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BAE0-D5AE-488E-A59E-199BA5ACB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8C884-952C-417F-9AF2-68C83ADAB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A49BA-9EDE-445F-9E31-A3E1C4A1C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17110-6348-43A5-B472-068D6854B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11366-118C-4DE6-BA78-D247E778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38C6C-FD4C-4E52-965D-9248E10F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0024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6B73-9885-446E-9FF0-647AB587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0B5CD5-5704-410D-B909-F1CABC02D3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27DAD-FEAC-498A-B058-7E79C54D3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269A9-C58C-493A-829C-B16D86D6E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ABB5B-7212-4086-8BCD-CFAA0FC7D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A3F52-9B68-4024-B292-A8297981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8039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1203-9C81-4DFB-819E-5979F0501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B9F18-30EF-4A61-BFF9-6A4C834DD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C8353-7AE6-43AC-84FA-321CB3C8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B4D01-7CD6-4B40-AC58-562A2A6C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BD528-ED28-43FE-BB6C-AAFA1840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0804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715FB4-6ACC-411A-A862-30A46A68D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3989D-2FBE-4DA4-A4FF-29393B9C8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CB424-3D03-4E5B-A0D9-0F6AA9DF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04D76-4852-4515-BE17-15DD0822C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FAEFA-E827-4BC1-933B-5B1BCACCD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807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185E2E4-8729-4A24-AEEE-F74FA16435FB}"/>
              </a:ext>
            </a:extLst>
          </p:cNvPr>
          <p:cNvSpPr/>
          <p:nvPr/>
        </p:nvSpPr>
        <p:spPr>
          <a:xfrm rot="16200000" flipH="1">
            <a:off x="5101806" y="-232196"/>
            <a:ext cx="6858003" cy="7322391"/>
          </a:xfrm>
          <a:prstGeom prst="triangle">
            <a:avLst>
              <a:gd name="adj" fmla="val 100000"/>
            </a:avLst>
          </a:prstGeom>
          <a:solidFill>
            <a:schemeClr val="accent3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584EF2D-04BC-4385-A8AC-0C5DFE57FE8C}"/>
              </a:ext>
            </a:extLst>
          </p:cNvPr>
          <p:cNvSpPr/>
          <p:nvPr/>
        </p:nvSpPr>
        <p:spPr>
          <a:xfrm rot="16200000" flipH="1">
            <a:off x="5860211" y="526211"/>
            <a:ext cx="6858000" cy="5805577"/>
          </a:xfrm>
          <a:prstGeom prst="triangle">
            <a:avLst>
              <a:gd name="adj" fmla="val 100000"/>
            </a:avLst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A9C40AD6-E4EA-479F-BFFD-52C24BE582F8}"/>
              </a:ext>
            </a:extLst>
          </p:cNvPr>
          <p:cNvSpPr/>
          <p:nvPr/>
        </p:nvSpPr>
        <p:spPr>
          <a:xfrm>
            <a:off x="8770873" y="0"/>
            <a:ext cx="3410309" cy="6858000"/>
          </a:xfrm>
          <a:prstGeom prst="triangle">
            <a:avLst>
              <a:gd name="adj" fmla="val 100000"/>
            </a:avLst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B511AA-51D3-4315-9F6A-DA90F3C7C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161A1-10DE-49EA-8556-51F5AE352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8841E-A473-4A55-AA14-D8A019291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56B7D-69DD-4E09-9B37-F0CCB79BA8C5}" type="datetimeFigureOut">
              <a:rPr lang="de-DE" smtClean="0"/>
              <a:t>26.02.2021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A0428-E842-4E31-AB12-3BD1CB1D5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COMPANY PRASENTATION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DF030-64DC-446F-85AE-94D1617EB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A4C34-983B-40D2-B3DB-96ADE0AC51FD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9">
            <a:extLst>
              <a:ext uri="{FF2B5EF4-FFF2-40B4-BE49-F238E27FC236}">
                <a16:creationId xmlns:a16="http://schemas.microsoft.com/office/drawing/2014/main" id="{B2330B31-9CBA-4C79-BA1D-45D0B4652F95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395" b="26531"/>
          <a:stretch/>
        </p:blipFill>
        <p:spPr>
          <a:xfrm>
            <a:off x="11592071" y="6247537"/>
            <a:ext cx="419776" cy="421248"/>
          </a:xfrm>
          <a:prstGeom prst="rect">
            <a:avLst/>
          </a:prstGeom>
        </p:spPr>
      </p:pic>
      <p:pic>
        <p:nvPicPr>
          <p:cNvPr id="7" name="Grafik 8">
            <a:extLst>
              <a:ext uri="{FF2B5EF4-FFF2-40B4-BE49-F238E27FC236}">
                <a16:creationId xmlns:a16="http://schemas.microsoft.com/office/drawing/2014/main" id="{987187FB-BB1A-464A-A187-73964224B0E9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335" y="189215"/>
            <a:ext cx="1598512" cy="40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8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en.wikipedia.org/wiki/IEE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61E69F-997A-4EEA-BB70-A8AB488E8E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BScan</a:t>
            </a:r>
            <a:r>
              <a:rPr lang="de-DE" dirty="0"/>
              <a:t> and SMART ICT – </a:t>
            </a:r>
            <a:r>
              <a:rPr lang="de-DE" dirty="0" err="1"/>
              <a:t>Overview</a:t>
            </a:r>
            <a:r>
              <a:rPr lang="de-DE" dirty="0"/>
              <a:t> and Classification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AD0953-AE97-476C-9093-D8E3EBC1BE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/>
              <a:t>V0.3</a:t>
            </a:r>
            <a:endParaRPr lang="de-DE" dirty="0"/>
          </a:p>
          <a:p>
            <a:r>
              <a:rPr lang="de-DE" dirty="0"/>
              <a:t>Kristian Trenkel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3377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61E69F-997A-4EEA-BB70-A8AB488E8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SMART ICT – </a:t>
            </a:r>
            <a:r>
              <a:rPr lang="de-DE" dirty="0" err="1"/>
              <a:t>Idea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AD0953-AE97-476C-9093-D8E3EBC1B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Extension of the flash system with possibilities of testing</a:t>
            </a:r>
          </a:p>
          <a:p>
            <a:pPr lvl="1"/>
            <a:r>
              <a:rPr lang="en-US" dirty="0"/>
              <a:t>Extension of the benefit of the stations for the customer</a:t>
            </a:r>
          </a:p>
          <a:p>
            <a:pPr lvl="1"/>
            <a:endParaRPr lang="en-US" dirty="0"/>
          </a:p>
          <a:p>
            <a:r>
              <a:rPr lang="en-US" dirty="0"/>
              <a:t>Boundary Scan (</a:t>
            </a:r>
            <a:r>
              <a:rPr lang="en-US" dirty="0" err="1"/>
              <a:t>BScan</a:t>
            </a:r>
            <a:r>
              <a:rPr lang="en-US" dirty="0"/>
              <a:t>) using JTAG</a:t>
            </a:r>
          </a:p>
          <a:p>
            <a:pPr lvl="1"/>
            <a:r>
              <a:rPr lang="en-US" dirty="0"/>
              <a:t>Separate topic – also possible </a:t>
            </a:r>
          </a:p>
          <a:p>
            <a:endParaRPr lang="en-US" dirty="0"/>
          </a:p>
          <a:p>
            <a:r>
              <a:rPr lang="en-US" dirty="0"/>
              <a:t>SMART ICT includes/unites two area </a:t>
            </a:r>
          </a:p>
          <a:p>
            <a:pPr lvl="1"/>
            <a:r>
              <a:rPr lang="en-US" dirty="0"/>
              <a:t>Using Ideas of ICT to check the presence of components</a:t>
            </a:r>
          </a:p>
          <a:p>
            <a:pPr lvl="1"/>
            <a:r>
              <a:rPr lang="en-US" dirty="0"/>
              <a:t>Functional test based on the </a:t>
            </a:r>
            <a:r>
              <a:rPr lang="en-US" dirty="0" err="1"/>
              <a:t>ProMik</a:t>
            </a:r>
            <a:r>
              <a:rPr lang="en-US" dirty="0"/>
              <a:t> bootloader</a:t>
            </a:r>
          </a:p>
          <a:p>
            <a:pPr lvl="1"/>
            <a:endParaRPr lang="en-US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687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BAFE320-727A-425E-A75E-77CCB19EF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de-DE" sz="4000" dirty="0"/>
              <a:t>Boundary Scan </a:t>
            </a:r>
            <a:r>
              <a:rPr lang="de-DE" sz="4000" dirty="0" err="1"/>
              <a:t>Introduction</a:t>
            </a:r>
            <a:endParaRPr lang="de-DE" sz="400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D66B43E-B92E-4140-B769-762706B0D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Defined</a:t>
            </a:r>
            <a:r>
              <a:rPr lang="de-DE" sz="1700" dirty="0"/>
              <a:t> in </a:t>
            </a:r>
            <a:r>
              <a:rPr lang="de-DE" sz="1700" dirty="0" err="1"/>
              <a:t>the</a:t>
            </a:r>
            <a:r>
              <a:rPr lang="de-DE" sz="1700" dirty="0"/>
              <a:t> JTAG </a:t>
            </a:r>
            <a:r>
              <a:rPr lang="de-DE" sz="1700" dirty="0" err="1"/>
              <a:t>standard</a:t>
            </a:r>
            <a:r>
              <a:rPr lang="de-DE" sz="1700" dirty="0"/>
              <a:t> </a:t>
            </a:r>
            <a:r>
              <a:rPr lang="en-US" sz="1700" dirty="0">
                <a:hlinkClick r:id="rId2" tooltip="IEEE"/>
              </a:rPr>
              <a:t>IEEE</a:t>
            </a:r>
            <a:r>
              <a:rPr lang="en-US" sz="1700" dirty="0"/>
              <a:t> Std. 1149.1 2001 (no major changes in 2013)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Main purpose is PCB production testing: solder joints, open IOs, shorts,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The IO cells of boundary scan enabled ICs can be isolated from the Core and can be controlled via JTAG scan chains.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JTAG defines dedicated instructions (IR register) for boundary scan registers to control the IC’s IO cells (mandatory for JTAG compliance)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JTAG also defines some optional instructions to test the internal logic of 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See also T:\09_Development\04_Training\Martin_Raubuch_Boundary_Scan.pptx</a:t>
            </a:r>
            <a:endParaRPr lang="de-DE" sz="1700" dirty="0"/>
          </a:p>
          <a:p>
            <a:pPr marL="0" indent="0">
              <a:buNone/>
            </a:pPr>
            <a:endParaRPr lang="de-DE" sz="170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1E17B5A-B3BE-4775-B97D-C280631CA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215" y="1896141"/>
            <a:ext cx="6745609" cy="4232948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48864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1CFF9-3BEA-45F4-9EDD-6709E9B17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400" dirty="0"/>
              <a:t>Boundary Scan Use Cases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A10327-5A58-4323-B313-0AC495EBE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One</a:t>
            </a:r>
            <a:r>
              <a:rPr lang="de-DE" dirty="0"/>
              <a:t> JTAG Device 			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JTAG Devices</a:t>
            </a:r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r>
              <a:rPr lang="de-DE" b="1" dirty="0"/>
              <a:t>Infrastructure </a:t>
            </a:r>
            <a:r>
              <a:rPr lang="de-DE" b="1" dirty="0" err="1"/>
              <a:t>test</a:t>
            </a:r>
            <a:r>
              <a:rPr lang="de-DE" b="1" dirty="0"/>
              <a:t> </a:t>
            </a:r>
            <a:r>
              <a:rPr lang="de-DE" dirty="0"/>
              <a:t>– </a:t>
            </a:r>
            <a:r>
              <a:rPr lang="de-DE" dirty="0" err="1"/>
              <a:t>read</a:t>
            </a:r>
            <a:r>
              <a:rPr lang="de-DE" dirty="0"/>
              <a:t>/check </a:t>
            </a:r>
            <a:r>
              <a:rPr lang="de-DE" dirty="0" err="1"/>
              <a:t>the</a:t>
            </a:r>
            <a:r>
              <a:rPr lang="de-DE" dirty="0"/>
              <a:t> Device ID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E16BF5D-0678-43F4-8103-34A56125C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52655"/>
            <a:ext cx="5067300" cy="25812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1F1FC3A-BC81-4987-890C-F7EDF0AF8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2352654"/>
            <a:ext cx="50673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93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C92E39-0B1B-4489-A03C-332C669E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400" dirty="0"/>
              <a:t>Boundary Scan Use Cases</a:t>
            </a:r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E023CC3-A5B8-4F7A-BA27-94E8D9342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534" y="1857475"/>
            <a:ext cx="10201977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 err="1"/>
              <a:t>One</a:t>
            </a:r>
            <a:r>
              <a:rPr lang="de-DE" dirty="0"/>
              <a:t> JTAG Device 			        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JTAG Devices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Interconnection </a:t>
            </a:r>
            <a:r>
              <a:rPr lang="de-DE" b="1" dirty="0" err="1"/>
              <a:t>test</a:t>
            </a:r>
            <a:r>
              <a:rPr lang="de-DE" b="1" dirty="0"/>
              <a:t> </a:t>
            </a:r>
            <a:r>
              <a:rPr lang="de-DE" dirty="0"/>
              <a:t>– Check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Pullup</a:t>
            </a:r>
            <a:r>
              <a:rPr lang="de-DE" dirty="0"/>
              <a:t> (1), Check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Pulldown</a:t>
            </a:r>
            <a:r>
              <a:rPr lang="de-DE" dirty="0"/>
              <a:t> (2), Connection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logic</a:t>
            </a:r>
            <a:r>
              <a:rPr lang="de-DE" dirty="0"/>
              <a:t> (3), Connection zu IC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Boundary Scan Devices (4)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F41425F-2098-4A63-BB81-7686D8BB0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11" y="2292365"/>
            <a:ext cx="5067300" cy="258127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5AFCFC7-06B9-4100-93D0-70C49EE7E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936" y="2292366"/>
            <a:ext cx="50673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13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447BA9-9A8A-4BF7-ACCE-703EC508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SMART ICT – </a:t>
            </a:r>
            <a:r>
              <a:rPr lang="de-DE" dirty="0" err="1"/>
              <a:t>Functional</a:t>
            </a:r>
            <a:r>
              <a:rPr lang="de-DE" dirty="0"/>
              <a:t> </a:t>
            </a:r>
            <a:r>
              <a:rPr lang="de-DE" dirty="0" err="1"/>
              <a:t>Testing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F8DE8D-70AE-440A-A19D-257B587A8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Execution of functional tests by means of </a:t>
            </a:r>
            <a:r>
              <a:rPr lang="en-US" dirty="0" err="1"/>
              <a:t>ProMik</a:t>
            </a:r>
            <a:r>
              <a:rPr lang="en-US" dirty="0"/>
              <a:t> bootloader and function units of the µC or SoC</a:t>
            </a:r>
          </a:p>
          <a:p>
            <a:r>
              <a:rPr lang="en-US" dirty="0"/>
              <a:t>For large SoCs, Linux can and should also be used to execute the tests – reusability</a:t>
            </a:r>
          </a:p>
          <a:p>
            <a:r>
              <a:rPr lang="en-US" dirty="0"/>
              <a:t>Functional Tests can be:</a:t>
            </a:r>
          </a:p>
          <a:p>
            <a:pPr lvl="1"/>
            <a:r>
              <a:rPr lang="en-US" dirty="0"/>
              <a:t>RAM test</a:t>
            </a:r>
          </a:p>
          <a:p>
            <a:pPr lvl="1"/>
            <a:r>
              <a:rPr lang="en-US" dirty="0"/>
              <a:t>ADC test</a:t>
            </a:r>
          </a:p>
          <a:p>
            <a:pPr lvl="1"/>
            <a:r>
              <a:rPr lang="en-US" dirty="0"/>
              <a:t>Communications tests (e.g. CAN, CAN-FD, Ethernet, …)</a:t>
            </a:r>
          </a:p>
          <a:p>
            <a:pPr lvl="1"/>
            <a:r>
              <a:rPr lang="en-US" dirty="0"/>
              <a:t>…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43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323E46-1CA8-43F6-AF6B-80008F09E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BScan</a:t>
            </a:r>
            <a:r>
              <a:rPr lang="de-DE" dirty="0"/>
              <a:t> and SMART ICT –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do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223D9F-6A96-4169-92DA-E9C3E61F0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BScan</a:t>
            </a:r>
            <a:r>
              <a:rPr lang="de-DE" dirty="0"/>
              <a:t>:</a:t>
            </a:r>
          </a:p>
          <a:p>
            <a:pPr lvl="1"/>
            <a:r>
              <a:rPr lang="en-US" dirty="0"/>
              <a:t>Identification of the JTAG device(s)</a:t>
            </a:r>
          </a:p>
          <a:p>
            <a:pPr lvl="1"/>
            <a:r>
              <a:rPr lang="en-US" dirty="0"/>
              <a:t>Checking the connections - Interconnection test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Functional Tests:</a:t>
            </a:r>
          </a:p>
          <a:p>
            <a:pPr lvl="1"/>
            <a:r>
              <a:rPr lang="en-US" dirty="0"/>
              <a:t>Everything which is connected to the µC/SoC</a:t>
            </a:r>
          </a:p>
          <a:p>
            <a:pPr lvl="1"/>
            <a:r>
              <a:rPr lang="en-US" dirty="0"/>
              <a:t>Test coverage depends on measurement capabilities (e.g. Values of an DAC)</a:t>
            </a:r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185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323E46-1CA8-43F6-AF6B-80008F09E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BScan</a:t>
            </a:r>
            <a:r>
              <a:rPr lang="de-DE" dirty="0"/>
              <a:t> and SMART ICT –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do not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223D9F-6A96-4169-92DA-E9C3E61F0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BScan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Functional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devices</a:t>
            </a:r>
            <a:r>
              <a:rPr lang="de-DE" dirty="0"/>
              <a:t> like RAM, Flash, Logical Gates, …</a:t>
            </a:r>
          </a:p>
          <a:p>
            <a:pPr marL="457200" lvl="1" indent="0">
              <a:buNone/>
            </a:pPr>
            <a:endParaRPr lang="de-DE" dirty="0"/>
          </a:p>
          <a:p>
            <a:r>
              <a:rPr lang="en-US" dirty="0"/>
              <a:t>Functional Tests:</a:t>
            </a:r>
          </a:p>
          <a:p>
            <a:pPr lvl="1"/>
            <a:r>
              <a:rPr lang="de-DE" dirty="0"/>
              <a:t>?</a:t>
            </a:r>
          </a:p>
          <a:p>
            <a:pPr lvl="1"/>
            <a:endParaRPr lang="de-DE" dirty="0"/>
          </a:p>
          <a:p>
            <a:r>
              <a:rPr lang="de-DE" dirty="0"/>
              <a:t>ICT:</a:t>
            </a:r>
          </a:p>
          <a:p>
            <a:pPr lvl="1"/>
            <a:r>
              <a:rPr lang="en-US" dirty="0"/>
              <a:t>No testing possibilities, as for example with the Flying Probe Test</a:t>
            </a:r>
            <a:endParaRPr lang="de-DE" dirty="0"/>
          </a:p>
          <a:p>
            <a:pPr marL="914400" lvl="2" indent="0">
              <a:buNone/>
            </a:pP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en-US" dirty="0">
                <a:sym typeface="Wingdings" panose="05000000000000000000" pitchFamily="2" charset="2"/>
              </a:rPr>
              <a:t>Measurement of special component values (e.g. value of a resistor)</a:t>
            </a:r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91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6E0FB5-3FED-48FB-AB27-9774538F9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BScan</a:t>
            </a:r>
            <a:r>
              <a:rPr lang="de-DE" dirty="0"/>
              <a:t> and SMART ICT – Advantages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customer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C689B3-B2C3-4037-AE48-A95DF1E0F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Faster Test of the ECU</a:t>
            </a:r>
          </a:p>
          <a:p>
            <a:pPr lvl="1"/>
            <a:r>
              <a:rPr lang="en-US" dirty="0"/>
              <a:t>High speed JTAG connection with </a:t>
            </a:r>
            <a:r>
              <a:rPr lang="en-US" dirty="0" err="1"/>
              <a:t>ProMik</a:t>
            </a:r>
            <a:r>
              <a:rPr lang="en-US" dirty="0"/>
              <a:t> hardware – Speedup of the </a:t>
            </a:r>
            <a:r>
              <a:rPr lang="en-US" dirty="0" err="1"/>
              <a:t>BScan</a:t>
            </a:r>
            <a:r>
              <a:rPr lang="en-US" dirty="0"/>
              <a:t> tests</a:t>
            </a:r>
          </a:p>
          <a:p>
            <a:pPr lvl="1"/>
            <a:r>
              <a:rPr lang="en-US" dirty="0"/>
              <a:t>Functional Testing using the µC/SoC hardware is faster and more efficient then using </a:t>
            </a:r>
            <a:r>
              <a:rPr lang="en-US" dirty="0" err="1"/>
              <a:t>BScan</a:t>
            </a:r>
            <a:r>
              <a:rPr lang="en-US" dirty="0"/>
              <a:t> (shifting bit pattern) </a:t>
            </a:r>
          </a:p>
          <a:p>
            <a:pPr lvl="1"/>
            <a:r>
              <a:rPr lang="en-US" dirty="0"/>
              <a:t>Test of modern interfaces like PCIe or DDR4 not possible with </a:t>
            </a:r>
            <a:r>
              <a:rPr lang="en-US" dirty="0" err="1"/>
              <a:t>Bscan</a:t>
            </a:r>
            <a:r>
              <a:rPr lang="en-US" dirty="0"/>
              <a:t> (trainings sequences needed)</a:t>
            </a:r>
          </a:p>
          <a:p>
            <a:pPr lvl="1"/>
            <a:endParaRPr lang="en-US" dirty="0"/>
          </a:p>
          <a:p>
            <a:r>
              <a:rPr lang="en-US" dirty="0"/>
              <a:t>No additional hardware for </a:t>
            </a:r>
            <a:r>
              <a:rPr lang="en-US" dirty="0" err="1"/>
              <a:t>BScan</a:t>
            </a:r>
            <a:r>
              <a:rPr lang="en-US" dirty="0"/>
              <a:t> needed</a:t>
            </a:r>
          </a:p>
          <a:p>
            <a:r>
              <a:rPr lang="en-US" dirty="0"/>
              <a:t>No effort for development of own functional testing software</a:t>
            </a:r>
          </a:p>
          <a:p>
            <a:r>
              <a:rPr lang="en-US" dirty="0"/>
              <a:t>Reduced number of steps/stations in production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1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8925"/>
      </a:accent1>
      <a:accent2>
        <a:srgbClr val="000000"/>
      </a:accent2>
      <a:accent3>
        <a:srgbClr val="A8A9AD"/>
      </a:accent3>
      <a:accent4>
        <a:srgbClr val="328925"/>
      </a:accent4>
      <a:accent5>
        <a:srgbClr val="25661B"/>
      </a:accent5>
      <a:accent6>
        <a:srgbClr val="6FD460"/>
      </a:accent6>
      <a:hlink>
        <a:srgbClr val="00B0F0"/>
      </a:hlink>
      <a:folHlink>
        <a:srgbClr val="0070C0"/>
      </a:folHlink>
    </a:clrScheme>
    <a:fontScheme name="ProMik Fonts">
      <a:majorFont>
        <a:latin typeface="Bahnschrift SemiBold SemiConden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</Words>
  <Application>Microsoft Office PowerPoint</Application>
  <PresentationFormat>Breitbild</PresentationFormat>
  <Paragraphs>74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Bahnschrift Light</vt:lpstr>
      <vt:lpstr>Bahnschrift SemiBold SemiConden</vt:lpstr>
      <vt:lpstr>Calibri</vt:lpstr>
      <vt:lpstr>1_Office Theme</vt:lpstr>
      <vt:lpstr>BScan and SMART ICT – Overview and Classification</vt:lpstr>
      <vt:lpstr>SMART ICT – Idea</vt:lpstr>
      <vt:lpstr>Boundary Scan Introduction</vt:lpstr>
      <vt:lpstr>Boundary Scan Use Cases</vt:lpstr>
      <vt:lpstr>Boundary Scan Use Cases</vt:lpstr>
      <vt:lpstr>SMART ICT – Functional Testing</vt:lpstr>
      <vt:lpstr>BScan and SMART ICT – What can we do</vt:lpstr>
      <vt:lpstr>BScan and SMART ICT – What we do not</vt:lpstr>
      <vt:lpstr>BScan and SMART ICT – Advantages for the customer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ICT – Overview and Classification</dc:title>
  <dc:creator>Kristian Trenkel</dc:creator>
  <cp:lastModifiedBy>Kristian Trenkel</cp:lastModifiedBy>
  <cp:revision>17</cp:revision>
  <dcterms:created xsi:type="dcterms:W3CDTF">2021-01-13T13:30:53Z</dcterms:created>
  <dcterms:modified xsi:type="dcterms:W3CDTF">2021-02-26T06:45:01Z</dcterms:modified>
</cp:coreProperties>
</file>