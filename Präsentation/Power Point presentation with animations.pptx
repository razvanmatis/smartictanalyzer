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22"/>
  </p:notesMasterIdLst>
  <p:sldIdLst>
    <p:sldId id="288" r:id="rId2"/>
    <p:sldId id="289" r:id="rId3"/>
    <p:sldId id="290" r:id="rId4"/>
    <p:sldId id="291" r:id="rId5"/>
    <p:sldId id="292" r:id="rId6"/>
    <p:sldId id="298" r:id="rId7"/>
    <p:sldId id="293" r:id="rId8"/>
    <p:sldId id="294" r:id="rId9"/>
    <p:sldId id="295" r:id="rId10"/>
    <p:sldId id="296" r:id="rId11"/>
    <p:sldId id="297" r:id="rId12"/>
    <p:sldId id="301" r:id="rId13"/>
    <p:sldId id="299" r:id="rId14"/>
    <p:sldId id="300" r:id="rId15"/>
    <p:sldId id="302" r:id="rId16"/>
    <p:sldId id="303" r:id="rId17"/>
    <p:sldId id="304" r:id="rId18"/>
    <p:sldId id="305" r:id="rId19"/>
    <p:sldId id="306" r:id="rId20"/>
    <p:sldId id="307" r:id="rId21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269D4EB-321D-45CA-88DD-F7AC0FDF6641}">
          <p14:sldIdLst>
            <p14:sldId id="288"/>
            <p14:sldId id="289"/>
            <p14:sldId id="290"/>
            <p14:sldId id="291"/>
            <p14:sldId id="292"/>
            <p14:sldId id="298"/>
            <p14:sldId id="293"/>
            <p14:sldId id="294"/>
            <p14:sldId id="295"/>
            <p14:sldId id="296"/>
            <p14:sldId id="297"/>
            <p14:sldId id="301"/>
            <p14:sldId id="299"/>
            <p14:sldId id="300"/>
            <p14:sldId id="302"/>
            <p14:sldId id="303"/>
            <p14:sldId id="304"/>
            <p14:sldId id="305"/>
            <p14:sldId id="306"/>
            <p14:sldId id="30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nberger Jens" initials="RJ" lastIdx="1" clrIdx="0">
    <p:extLst>
      <p:ext uri="{19B8F6BF-5375-455C-9EA6-DF929625EA0E}">
        <p15:presenceInfo xmlns:p15="http://schemas.microsoft.com/office/powerpoint/2012/main" userId="S-1-5-21-1011760252-1736729318-853761084-220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9244"/>
    <a:srgbClr val="CACB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936" autoAdjust="0"/>
    <p:restoredTop sz="86410"/>
  </p:normalViewPr>
  <p:slideViewPr>
    <p:cSldViewPr snapToGrid="0">
      <p:cViewPr>
        <p:scale>
          <a:sx n="100" d="100"/>
          <a:sy n="100" d="100"/>
        </p:scale>
        <p:origin x="-24" y="-60"/>
      </p:cViewPr>
      <p:guideLst>
        <p:guide orient="horz" pos="2137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80D0E4-B194-4342-99B8-E890CA729E74}" type="datetimeFigureOut">
              <a:rPr lang="x-none" smtClean="0"/>
              <a:t>08.06.2021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F6C4F1-6C68-45BD-8220-812B16D74F37}" type="slidenum">
              <a:rPr lang="x-none" smtClean="0"/>
              <a:t>‹Nr.›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83352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331AE-968E-404D-976A-7986A14B1A3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88776B-BA7E-44EF-9F52-4AC7AEC8296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CADAF-1C83-4082-A7A5-C84FF5732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Proprietary and confidential information of ProMik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1847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A5BE8-0931-4A1A-A8EE-4D1A440BAD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60000"/>
            <a:ext cx="9372600" cy="540483"/>
          </a:xfrm>
        </p:spPr>
        <p:txBody>
          <a:bodyPr anchor="t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E2FC3-391A-4D4D-8080-5CEC1E2419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4108" y="1274885"/>
            <a:ext cx="11019692" cy="4924303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D3A1C-CF72-42E9-A7D0-4F9E95E3E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Proprietary and confidential information of ProMik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3497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FF9658-9EC0-4D4A-B06D-34693F73B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Proprietary and confidential information of ProMik</a:t>
            </a:r>
            <a:endParaRPr lang="de-DE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20636A6-FE23-4FC5-81CB-463B2CEF4A14}"/>
              </a:ext>
            </a:extLst>
          </p:cNvPr>
          <p:cNvCxnSpPr>
            <a:cxnSpLocks/>
          </p:cNvCxnSpPr>
          <p:nvPr/>
        </p:nvCxnSpPr>
        <p:spPr>
          <a:xfrm>
            <a:off x="2530433" y="2585855"/>
            <a:ext cx="0" cy="186739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91F4317-6FC9-4755-8127-A2D2F9CE5A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09845" y="3099792"/>
            <a:ext cx="3538537" cy="866775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8724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4185E2E4-8729-4A24-AEEE-F74FA16435FB}"/>
              </a:ext>
            </a:extLst>
          </p:cNvPr>
          <p:cNvSpPr/>
          <p:nvPr/>
        </p:nvSpPr>
        <p:spPr>
          <a:xfrm rot="16200000" flipH="1">
            <a:off x="5101806" y="-232196"/>
            <a:ext cx="6858003" cy="7322391"/>
          </a:xfrm>
          <a:prstGeom prst="triangle">
            <a:avLst>
              <a:gd name="adj" fmla="val 100000"/>
            </a:avLst>
          </a:prstGeom>
          <a:solidFill>
            <a:schemeClr val="accent3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1584EF2D-04BC-4385-A8AC-0C5DFE57FE8C}"/>
              </a:ext>
            </a:extLst>
          </p:cNvPr>
          <p:cNvSpPr/>
          <p:nvPr/>
        </p:nvSpPr>
        <p:spPr>
          <a:xfrm rot="16200000" flipH="1">
            <a:off x="5860211" y="526211"/>
            <a:ext cx="6858000" cy="5805577"/>
          </a:xfrm>
          <a:prstGeom prst="triangle">
            <a:avLst>
              <a:gd name="adj" fmla="val 100000"/>
            </a:avLst>
          </a:prstGeom>
          <a:solidFill>
            <a:schemeClr val="accent3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A9C40AD6-E4EA-479F-BFFD-52C24BE582F8}"/>
              </a:ext>
            </a:extLst>
          </p:cNvPr>
          <p:cNvSpPr/>
          <p:nvPr/>
        </p:nvSpPr>
        <p:spPr>
          <a:xfrm>
            <a:off x="8770873" y="0"/>
            <a:ext cx="3410309" cy="6858000"/>
          </a:xfrm>
          <a:prstGeom prst="triangle">
            <a:avLst>
              <a:gd name="adj" fmla="val 100000"/>
            </a:avLst>
          </a:prstGeom>
          <a:solidFill>
            <a:schemeClr val="accent3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B511AA-51D3-4315-9F6A-DA90F3C7C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161A1-10DE-49EA-8556-51F5AE352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A0428-E842-4E31-AB12-3BD1CB1D5D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Proprietary and confidential information of ProMik</a:t>
            </a:r>
            <a:endParaRPr lang="de-DE" dirty="0"/>
          </a:p>
        </p:txBody>
      </p:sp>
      <p:pic>
        <p:nvPicPr>
          <p:cNvPr id="8" name="Grafik 9">
            <a:extLst>
              <a:ext uri="{FF2B5EF4-FFF2-40B4-BE49-F238E27FC236}">
                <a16:creationId xmlns:a16="http://schemas.microsoft.com/office/drawing/2014/main" id="{B2330B31-9CBA-4C79-BA1D-45D0B4652F9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92071" y="6247537"/>
            <a:ext cx="419776" cy="421248"/>
          </a:xfrm>
          <a:prstGeom prst="rect">
            <a:avLst/>
          </a:prstGeom>
        </p:spPr>
      </p:pic>
      <p:pic>
        <p:nvPicPr>
          <p:cNvPr id="7" name="Grafik 8">
            <a:extLst>
              <a:ext uri="{FF2B5EF4-FFF2-40B4-BE49-F238E27FC236}">
                <a16:creationId xmlns:a16="http://schemas.microsoft.com/office/drawing/2014/main" id="{987187FB-BB1A-464A-A187-73964224B0E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3335" y="189215"/>
            <a:ext cx="1598512" cy="406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889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8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7.png"/><Relationship Id="rId18" Type="http://schemas.openxmlformats.org/officeDocument/2006/relationships/image" Target="../media/image72.png"/><Relationship Id="rId26" Type="http://schemas.openxmlformats.org/officeDocument/2006/relationships/image" Target="../media/image80.png"/><Relationship Id="rId39" Type="http://schemas.openxmlformats.org/officeDocument/2006/relationships/image" Target="../media/image93.png"/><Relationship Id="rId21" Type="http://schemas.openxmlformats.org/officeDocument/2006/relationships/image" Target="../media/image75.png"/><Relationship Id="rId34" Type="http://schemas.openxmlformats.org/officeDocument/2006/relationships/image" Target="../media/image88.png"/><Relationship Id="rId42" Type="http://schemas.openxmlformats.org/officeDocument/2006/relationships/image" Target="../media/image96.png"/><Relationship Id="rId47" Type="http://schemas.openxmlformats.org/officeDocument/2006/relationships/image" Target="../media/image101.png"/><Relationship Id="rId50" Type="http://schemas.openxmlformats.org/officeDocument/2006/relationships/image" Target="../media/image104.png"/><Relationship Id="rId55" Type="http://schemas.openxmlformats.org/officeDocument/2006/relationships/image" Target="../media/image109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17" Type="http://schemas.openxmlformats.org/officeDocument/2006/relationships/image" Target="../media/image71.png"/><Relationship Id="rId25" Type="http://schemas.openxmlformats.org/officeDocument/2006/relationships/image" Target="../media/image79.png"/><Relationship Id="rId33" Type="http://schemas.openxmlformats.org/officeDocument/2006/relationships/image" Target="../media/image87.png"/><Relationship Id="rId38" Type="http://schemas.openxmlformats.org/officeDocument/2006/relationships/image" Target="../media/image92.png"/><Relationship Id="rId46" Type="http://schemas.openxmlformats.org/officeDocument/2006/relationships/image" Target="../media/image100.png"/><Relationship Id="rId2" Type="http://schemas.openxmlformats.org/officeDocument/2006/relationships/image" Target="../media/image56.png"/><Relationship Id="rId16" Type="http://schemas.openxmlformats.org/officeDocument/2006/relationships/image" Target="../media/image70.png"/><Relationship Id="rId20" Type="http://schemas.openxmlformats.org/officeDocument/2006/relationships/image" Target="../media/image74.png"/><Relationship Id="rId29" Type="http://schemas.openxmlformats.org/officeDocument/2006/relationships/image" Target="../media/image83.png"/><Relationship Id="rId41" Type="http://schemas.openxmlformats.org/officeDocument/2006/relationships/image" Target="../media/image95.png"/><Relationship Id="rId54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24" Type="http://schemas.openxmlformats.org/officeDocument/2006/relationships/image" Target="../media/image78.png"/><Relationship Id="rId32" Type="http://schemas.openxmlformats.org/officeDocument/2006/relationships/image" Target="../media/image86.png"/><Relationship Id="rId37" Type="http://schemas.openxmlformats.org/officeDocument/2006/relationships/image" Target="../media/image91.png"/><Relationship Id="rId40" Type="http://schemas.openxmlformats.org/officeDocument/2006/relationships/image" Target="../media/image94.png"/><Relationship Id="rId45" Type="http://schemas.openxmlformats.org/officeDocument/2006/relationships/image" Target="../media/image99.png"/><Relationship Id="rId53" Type="http://schemas.openxmlformats.org/officeDocument/2006/relationships/image" Target="../media/image107.png"/><Relationship Id="rId5" Type="http://schemas.openxmlformats.org/officeDocument/2006/relationships/image" Target="../media/image59.png"/><Relationship Id="rId15" Type="http://schemas.openxmlformats.org/officeDocument/2006/relationships/image" Target="../media/image69.png"/><Relationship Id="rId23" Type="http://schemas.openxmlformats.org/officeDocument/2006/relationships/image" Target="../media/image77.png"/><Relationship Id="rId28" Type="http://schemas.openxmlformats.org/officeDocument/2006/relationships/image" Target="../media/image82.png"/><Relationship Id="rId36" Type="http://schemas.openxmlformats.org/officeDocument/2006/relationships/image" Target="../media/image90.png"/><Relationship Id="rId49" Type="http://schemas.openxmlformats.org/officeDocument/2006/relationships/image" Target="../media/image103.png"/><Relationship Id="rId10" Type="http://schemas.openxmlformats.org/officeDocument/2006/relationships/image" Target="../media/image64.png"/><Relationship Id="rId19" Type="http://schemas.openxmlformats.org/officeDocument/2006/relationships/image" Target="../media/image73.png"/><Relationship Id="rId31" Type="http://schemas.openxmlformats.org/officeDocument/2006/relationships/image" Target="../media/image85.png"/><Relationship Id="rId44" Type="http://schemas.openxmlformats.org/officeDocument/2006/relationships/image" Target="../media/image98.png"/><Relationship Id="rId52" Type="http://schemas.openxmlformats.org/officeDocument/2006/relationships/image" Target="../media/image106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Relationship Id="rId22" Type="http://schemas.openxmlformats.org/officeDocument/2006/relationships/image" Target="../media/image76.png"/><Relationship Id="rId27" Type="http://schemas.openxmlformats.org/officeDocument/2006/relationships/image" Target="../media/image81.png"/><Relationship Id="rId30" Type="http://schemas.openxmlformats.org/officeDocument/2006/relationships/image" Target="../media/image84.png"/><Relationship Id="rId35" Type="http://schemas.openxmlformats.org/officeDocument/2006/relationships/image" Target="../media/image89.png"/><Relationship Id="rId43" Type="http://schemas.openxmlformats.org/officeDocument/2006/relationships/image" Target="../media/image97.png"/><Relationship Id="rId48" Type="http://schemas.openxmlformats.org/officeDocument/2006/relationships/image" Target="../media/image102.png"/><Relationship Id="rId8" Type="http://schemas.openxmlformats.org/officeDocument/2006/relationships/image" Target="../media/image62.png"/><Relationship Id="rId51" Type="http://schemas.openxmlformats.org/officeDocument/2006/relationships/image" Target="../media/image105.png"/><Relationship Id="rId3" Type="http://schemas.openxmlformats.org/officeDocument/2006/relationships/image" Target="../media/image5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03AEA-6ABF-4E6D-B636-EFF31DAE3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884" y="1122363"/>
            <a:ext cx="11855116" cy="2387600"/>
          </a:xfrm>
        </p:spPr>
        <p:txBody>
          <a:bodyPr/>
          <a:lstStyle/>
          <a:p>
            <a:pPr algn="l"/>
            <a:r>
              <a:rPr lang="en-US" dirty="0"/>
              <a:t>Conceptual design and realization of a graphical tool for determining the test coverage of digital circuit diagrams</a:t>
            </a:r>
            <a:endParaRPr lang="de-DE" dirty="0">
              <a:latin typeface="Bahnschrift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8C8D75-F734-480F-B92C-275C7CA21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655762"/>
          </a:xfrm>
        </p:spPr>
        <p:txBody>
          <a:bodyPr/>
          <a:lstStyle/>
          <a:p>
            <a:r>
              <a:rPr lang="en-US" dirty="0"/>
              <a:t>Master-Thesis presentation by</a:t>
            </a:r>
          </a:p>
          <a:p>
            <a:r>
              <a:rPr lang="en-US" dirty="0"/>
              <a:t>Razvan Matis</a:t>
            </a:r>
          </a:p>
          <a:p>
            <a:r>
              <a:rPr lang="en-US" dirty="0" err="1"/>
              <a:t>Matr</a:t>
            </a:r>
            <a:r>
              <a:rPr lang="en-US" dirty="0"/>
              <a:t>. Nr.: 2403005</a:t>
            </a:r>
          </a:p>
          <a:p>
            <a:pPr algn="l"/>
            <a:endParaRPr lang="de-DE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807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0CC4CC-EA10-4626-9593-CBC8A3949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C592BE-E855-4E3B-A9CA-1EF59CB32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Fundamentals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Requirements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Conceptual design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Realization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Test coverage determination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Application overview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Live demonstration of the created tool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A2E598E-9A3F-466C-B39C-049879907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Agenda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2663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853470-BEB5-4C72-AA88-015263FBA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Fundamentals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D0DC190-918C-4060-AC4C-9D89C0298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ODB++ format</a:t>
            </a:r>
          </a:p>
          <a:p>
            <a:r>
              <a:rPr lang="en-US" dirty="0"/>
              <a:t>PCB Investigator</a:t>
            </a:r>
          </a:p>
          <a:p>
            <a:r>
              <a:rPr lang="en-US" dirty="0"/>
              <a:t>JTAG interface</a:t>
            </a:r>
          </a:p>
          <a:p>
            <a:r>
              <a:rPr lang="en-US" dirty="0"/>
              <a:t>Boundary scan tests</a:t>
            </a:r>
          </a:p>
          <a:p>
            <a:r>
              <a:rPr lang="en-US" dirty="0"/>
              <a:t>BSDL (Boundary scan description language)</a:t>
            </a:r>
          </a:p>
          <a:p>
            <a:r>
              <a:rPr lang="en-US" dirty="0"/>
              <a:t>SVF file format</a:t>
            </a:r>
          </a:p>
          <a:p>
            <a:r>
              <a:rPr lang="en-US" dirty="0"/>
              <a:t>Model-View-</a:t>
            </a:r>
            <a:r>
              <a:rPr lang="en-US" dirty="0" err="1"/>
              <a:t>ViewModel</a:t>
            </a:r>
            <a:r>
              <a:rPr lang="en-US" dirty="0"/>
              <a:t> design pattern</a:t>
            </a:r>
          </a:p>
          <a:p>
            <a:r>
              <a:rPr lang="en-US" dirty="0"/>
              <a:t>GRPC communication protocol</a:t>
            </a:r>
          </a:p>
          <a:p>
            <a:pPr lvl="1"/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A78EC53-2AB5-436E-B05E-D9E9074AB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1. Fundamentals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75098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E5A0B7-03A1-4E1C-A8FC-413882778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Requirements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FDA360-7866-446D-AF2B-46D1C515C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ODB++ project files</a:t>
            </a:r>
          </a:p>
          <a:p>
            <a:pPr lvl="1"/>
            <a:r>
              <a:rPr lang="en-US" dirty="0"/>
              <a:t>Different object related actions</a:t>
            </a:r>
          </a:p>
          <a:p>
            <a:r>
              <a:rPr lang="en-US" dirty="0"/>
              <a:t>Settings handling</a:t>
            </a:r>
          </a:p>
          <a:p>
            <a:r>
              <a:rPr lang="en-US" dirty="0"/>
              <a:t>Export / Import mechanism to / from JSON formatted files</a:t>
            </a:r>
          </a:p>
          <a:p>
            <a:r>
              <a:rPr lang="en-US" dirty="0"/>
              <a:t>Determination of different test coverage values</a:t>
            </a:r>
          </a:p>
          <a:p>
            <a:r>
              <a:rPr lang="en-US" dirty="0"/>
              <a:t>Creation of SVF files</a:t>
            </a:r>
          </a:p>
          <a:p>
            <a:r>
              <a:rPr lang="en-US" dirty="0"/>
              <a:t>Usage of in house libraries</a:t>
            </a:r>
          </a:p>
          <a:p>
            <a:pPr lvl="1"/>
            <a:r>
              <a:rPr lang="en-US" dirty="0" err="1"/>
              <a:t>LogPanel</a:t>
            </a:r>
            <a:endParaRPr lang="en-US" dirty="0"/>
          </a:p>
          <a:p>
            <a:pPr lvl="1"/>
            <a:r>
              <a:rPr lang="en-US" dirty="0" err="1"/>
              <a:t>SettingsPanel</a:t>
            </a:r>
            <a:endParaRPr lang="en-US" dirty="0"/>
          </a:p>
          <a:p>
            <a:pPr lvl="1"/>
            <a:r>
              <a:rPr lang="en-US" dirty="0" err="1"/>
              <a:t>SvfPlayer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D8385CE-532B-4327-8CA5-B7FB5D0A6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2. Requirements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57019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D68C75-3285-467A-B61A-46CB0D492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Conceptual design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94EF9D7-20DF-4239-A723-9715D32E6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language: C#</a:t>
            </a:r>
          </a:p>
          <a:p>
            <a:r>
              <a:rPr lang="en-US" dirty="0"/>
              <a:t>Used IDE: Visual Studio 2019 Community Edition</a:t>
            </a:r>
          </a:p>
          <a:p>
            <a:r>
              <a:rPr lang="en-US" dirty="0"/>
              <a:t>Patterns and frameworks used</a:t>
            </a:r>
          </a:p>
          <a:p>
            <a:pPr lvl="1"/>
            <a:r>
              <a:rPr lang="en-US" dirty="0"/>
              <a:t>Dependency injection</a:t>
            </a:r>
          </a:p>
          <a:p>
            <a:pPr lvl="1"/>
            <a:r>
              <a:rPr lang="en-US" dirty="0"/>
              <a:t>Material design</a:t>
            </a:r>
          </a:p>
          <a:p>
            <a:pPr lvl="1"/>
            <a:r>
              <a:rPr lang="en-US" dirty="0"/>
              <a:t>Factory pattern</a:t>
            </a:r>
          </a:p>
          <a:p>
            <a:pPr lvl="1"/>
            <a:r>
              <a:rPr lang="en-US" dirty="0"/>
              <a:t>Strategy pattern</a:t>
            </a:r>
          </a:p>
          <a:p>
            <a:pPr lvl="1"/>
            <a:r>
              <a:rPr lang="en-US" dirty="0"/>
              <a:t>Command pattern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8665DE8-A945-4399-8B30-D24AC0BEC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3. Conceptual design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56790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2C95D0-6D55-4A5D-8A8D-70EFF5FC4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Conceptual design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D5A857-6858-42ED-BF1F-36D97A582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was the decision 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  </a:t>
            </a:r>
            <a:r>
              <a:rPr lang="de-DE" dirty="0" err="1"/>
              <a:t>made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separate</a:t>
            </a:r>
          </a:p>
          <a:p>
            <a:pPr marL="0" indent="0">
              <a:buNone/>
            </a:pPr>
            <a:r>
              <a:rPr lang="de-DE" dirty="0"/>
              <a:t>  </a:t>
            </a:r>
            <a:r>
              <a:rPr lang="de-DE" dirty="0" err="1"/>
              <a:t>projects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interest</a:t>
            </a:r>
            <a:r>
              <a:rPr lang="de-DE" dirty="0"/>
              <a:t> </a:t>
            </a:r>
            <a:r>
              <a:rPr lang="de-DE" dirty="0" err="1"/>
              <a:t>which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 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communicating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/>
              <a:t>  GRPC </a:t>
            </a:r>
            <a:r>
              <a:rPr lang="de-DE" dirty="0" err="1"/>
              <a:t>requests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BDDA20E-1D2A-4A67-82B6-C9E450004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3. Conceptual design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D14124E-E452-42F2-8533-A4A60D045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387" y="900483"/>
            <a:ext cx="7167613" cy="450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696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fik 36">
            <a:extLst>
              <a:ext uri="{FF2B5EF4-FFF2-40B4-BE49-F238E27FC236}">
                <a16:creationId xmlns:a16="http://schemas.microsoft.com/office/drawing/2014/main" id="{F5805027-FC8F-4F48-AD11-F177337ED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25" y="900483"/>
            <a:ext cx="9667875" cy="522922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0F3AB5C-8FDF-485C-9BF8-66EE820C4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Conceptual design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B3C8FEB-1945-4D32-B2CC-0FDA41F90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3. Conceptual design</a:t>
            </a:r>
            <a:endParaRPr lang="de-DE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F5599A10-0D55-4A36-B42A-253D06741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108" y="1274885"/>
            <a:ext cx="11019692" cy="4924303"/>
          </a:xfrm>
        </p:spPr>
        <p:txBody>
          <a:bodyPr/>
          <a:lstStyle/>
          <a:p>
            <a:r>
              <a:rPr lang="en-US" dirty="0"/>
              <a:t>The used target frameworks</a:t>
            </a:r>
          </a:p>
          <a:p>
            <a:pPr marL="0" indent="0">
              <a:buNone/>
            </a:pPr>
            <a:r>
              <a:rPr lang="en-US" dirty="0"/>
              <a:t>  differ in dependency on the</a:t>
            </a:r>
          </a:p>
          <a:p>
            <a:pPr marL="0" indent="0">
              <a:buNone/>
            </a:pPr>
            <a:r>
              <a:rPr lang="en-US" dirty="0"/>
              <a:t>  realized project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A8C3FBF-AFD0-4456-8FFB-12891326F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4012" y="900483"/>
            <a:ext cx="2028825" cy="211455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0310A855-68E6-41CB-A326-DA5DA4937B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037" y="3668711"/>
            <a:ext cx="1295400" cy="130492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6693285-A3BC-4069-A699-5BB39F8608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3737" y="2916236"/>
            <a:ext cx="2200275" cy="752475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0310B9A3-E25A-4580-B4B8-64AF14C74A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0312" y="4972049"/>
            <a:ext cx="1485900" cy="1133475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74A740D-C3D2-4DE8-A5B5-693F9427CA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1437" y="4192586"/>
            <a:ext cx="1733550" cy="3429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1F0F232C-A7C1-4152-A387-161E7C9A32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5462" y="3668711"/>
            <a:ext cx="1304925" cy="1304925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F4A34B54-DE9C-4D13-AC5D-68060A896E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43549" y="4968873"/>
            <a:ext cx="1428750" cy="114300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AAA40CD4-340A-4143-BF33-B936E58E8C5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10274" y="3048978"/>
            <a:ext cx="495300" cy="62865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49422157-AD59-44AB-A2E2-A6EDD0AB38C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10387" y="4230686"/>
            <a:ext cx="1990725" cy="266700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817A7D1C-0B99-491D-A210-F91A923C262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07280" y="3658701"/>
            <a:ext cx="990600" cy="1323975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82DD4477-5AFF-470E-9F06-8BF5439E356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59617" y="4968752"/>
            <a:ext cx="1685925" cy="1152525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330FF5A9-3070-4861-BFE3-C946482FC91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72299" y="3030051"/>
            <a:ext cx="2524125" cy="657225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1D85B980-23DE-4230-B530-553D2707EB7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97880" y="4235327"/>
            <a:ext cx="933450" cy="266700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CB3E2633-1E22-4DE1-BB3D-17142981E8E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24428" y="3679215"/>
            <a:ext cx="1304925" cy="1314450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FCEAD831-D7A6-4D03-B2F5-75F00CA73B6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45542" y="4982676"/>
            <a:ext cx="1381125" cy="66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454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8F2BDF-F774-4C81-BA72-B75F947E0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Conceptual design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C9E0136-1C8E-4AC2-997A-19CC98683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3. Conceptual design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727DD60-7D41-4615-A0BC-FA2597C54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3941" y="900483"/>
            <a:ext cx="7918059" cy="5560344"/>
          </a:xfrm>
          <a:prstGeom prst="rect">
            <a:avLst/>
          </a:prstGeom>
        </p:spPr>
      </p:pic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6082BAD7-9374-42F1-A60C-763B1F893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108" y="1274885"/>
            <a:ext cx="11019692" cy="4924303"/>
          </a:xfrm>
        </p:spPr>
        <p:txBody>
          <a:bodyPr/>
          <a:lstStyle/>
          <a:p>
            <a:r>
              <a:rPr lang="en-US" dirty="0"/>
              <a:t>The PCB Investigator API</a:t>
            </a:r>
          </a:p>
          <a:p>
            <a:pPr marL="0" indent="0">
              <a:buNone/>
            </a:pPr>
            <a:r>
              <a:rPr lang="en-US" dirty="0"/>
              <a:t>  provided a complex class </a:t>
            </a:r>
          </a:p>
          <a:p>
            <a:pPr marL="0" indent="0">
              <a:buNone/>
            </a:pPr>
            <a:r>
              <a:rPr lang="en-US" dirty="0"/>
              <a:t>  diagram for all objects of </a:t>
            </a:r>
          </a:p>
          <a:p>
            <a:pPr marL="0" indent="0">
              <a:buNone/>
            </a:pPr>
            <a:r>
              <a:rPr lang="en-US" dirty="0"/>
              <a:t>  interest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41478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40E9FA-10D4-4599-9680-48A364BE3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Conceptual design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6AA2E00-6C38-4097-8922-E502B4EA3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Proprietary and confidential information of ProMik</a:t>
            </a:r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2ECF4DC-47C9-475D-9C0A-D02925479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347" y="1213108"/>
            <a:ext cx="8630653" cy="3920521"/>
          </a:xfrm>
          <a:prstGeom prst="rect">
            <a:avLst/>
          </a:prstGeo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10BF31C6-213A-4EB0-9834-2B26BEC32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108" y="1274885"/>
            <a:ext cx="11019692" cy="4924303"/>
          </a:xfrm>
        </p:spPr>
        <p:txBody>
          <a:bodyPr/>
          <a:lstStyle/>
          <a:p>
            <a:r>
              <a:rPr lang="en-US" dirty="0"/>
              <a:t>I transformed the class </a:t>
            </a:r>
          </a:p>
          <a:p>
            <a:pPr marL="0" indent="0">
              <a:buNone/>
            </a:pPr>
            <a:r>
              <a:rPr lang="en-US" dirty="0"/>
              <a:t>  diagram in a easier one</a:t>
            </a:r>
          </a:p>
          <a:p>
            <a:pPr marL="0" indent="0">
              <a:buNone/>
            </a:pPr>
            <a:r>
              <a:rPr lang="en-US" dirty="0"/>
              <a:t>  by having available</a:t>
            </a:r>
          </a:p>
          <a:p>
            <a:pPr marL="0" indent="0">
              <a:buNone/>
            </a:pPr>
            <a:r>
              <a:rPr lang="en-US" dirty="0"/>
              <a:t>  all information of</a:t>
            </a:r>
          </a:p>
          <a:p>
            <a:pPr marL="0" indent="0">
              <a:buNone/>
            </a:pPr>
            <a:r>
              <a:rPr lang="en-US" dirty="0"/>
              <a:t>  interest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9328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777914-EE6B-42AB-A8E6-264608C46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Conceptual design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B8F8417-FC96-4F0D-8836-52B57CBC8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Proprietary and confidential information of ProMik</a:t>
            </a:r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226F32A-F3D2-48CC-9A27-95EE867CF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2307" y="1057645"/>
            <a:ext cx="6039693" cy="4715533"/>
          </a:xfrm>
          <a:prstGeom prst="rect">
            <a:avLst/>
          </a:prstGeom>
        </p:spPr>
      </p:pic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8ED3E5AA-23DC-4EBA-9FF2-C0C5DD04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108" y="1274885"/>
            <a:ext cx="11019692" cy="4924303"/>
          </a:xfrm>
        </p:spPr>
        <p:txBody>
          <a:bodyPr/>
          <a:lstStyle/>
          <a:p>
            <a:r>
              <a:rPr lang="en-US" dirty="0"/>
              <a:t>So it was ensured to be able to project</a:t>
            </a:r>
          </a:p>
          <a:p>
            <a:pPr marL="0" indent="0">
              <a:buNone/>
            </a:pPr>
            <a:r>
              <a:rPr lang="en-US" dirty="0"/>
              <a:t>  all connection possibilities which could</a:t>
            </a:r>
          </a:p>
          <a:p>
            <a:pPr marL="0" indent="0">
              <a:buNone/>
            </a:pPr>
            <a:r>
              <a:rPr lang="en-US" dirty="0"/>
              <a:t>  physically occur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3722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0EB9FD-77B4-4DDE-A5BD-CC2CCBB21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Realization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49ED7F-7676-40F0-83B5-39ED3980D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were many</a:t>
            </a:r>
          </a:p>
          <a:p>
            <a:pPr marL="0" indent="0">
              <a:buNone/>
            </a:pPr>
            <a:r>
              <a:rPr lang="en-US" dirty="0"/>
              <a:t>  projects created</a:t>
            </a:r>
          </a:p>
          <a:p>
            <a:pPr marL="0" indent="0">
              <a:buNone/>
            </a:pPr>
            <a:r>
              <a:rPr lang="en-US" dirty="0"/>
              <a:t>  to make sure for</a:t>
            </a:r>
          </a:p>
          <a:p>
            <a:pPr marL="0" indent="0">
              <a:buNone/>
            </a:pPr>
            <a:r>
              <a:rPr lang="en-US" dirty="0"/>
              <a:t>  being able to use</a:t>
            </a:r>
          </a:p>
          <a:p>
            <a:pPr marL="0" indent="0">
              <a:buNone/>
            </a:pPr>
            <a:r>
              <a:rPr lang="en-US" dirty="0"/>
              <a:t>  them as</a:t>
            </a:r>
          </a:p>
          <a:p>
            <a:pPr marL="0" indent="0">
              <a:buNone/>
            </a:pPr>
            <a:r>
              <a:rPr lang="en-US" dirty="0"/>
              <a:t>  separately as </a:t>
            </a:r>
          </a:p>
          <a:p>
            <a:pPr marL="0" indent="0">
              <a:buNone/>
            </a:pPr>
            <a:r>
              <a:rPr lang="en-US" dirty="0"/>
              <a:t>  possible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92A2F40-E8B2-4D5E-921A-27B5CB190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4. Realization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DD49FE6-C06C-4F06-B59F-A65514CF3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342" y="658812"/>
            <a:ext cx="8784657" cy="553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100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607F39-E61D-4905-9D56-053F1087A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Realization</a:t>
            </a:r>
            <a:endParaRPr lang="de-DE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BC4C9D10-C960-46E9-932B-2BBBA1E996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64048" y="0"/>
            <a:ext cx="2168637" cy="5841874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BD3CA8-15D6-4EE9-93AB-E2B2E44FB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4. Realization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F311062-D70F-426F-94FD-5617E781D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101" y="0"/>
            <a:ext cx="2168637" cy="6356350"/>
          </a:xfrm>
          <a:prstGeom prst="rect">
            <a:avLst/>
          </a:prstGeom>
        </p:spPr>
      </p:pic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A1C9D03B-2B85-42A2-B2F0-9D9A71DFA853}"/>
              </a:ext>
            </a:extLst>
          </p:cNvPr>
          <p:cNvSpPr txBox="1">
            <a:spLocks/>
          </p:cNvSpPr>
          <p:nvPr/>
        </p:nvSpPr>
        <p:spPr>
          <a:xfrm>
            <a:off x="334108" y="1274885"/>
            <a:ext cx="11019692" cy="49243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solution itself was </a:t>
            </a:r>
          </a:p>
          <a:p>
            <a:pPr marL="0" indent="0">
              <a:buNone/>
            </a:pPr>
            <a:r>
              <a:rPr lang="en-US" dirty="0"/>
              <a:t>  created following a highly</a:t>
            </a:r>
          </a:p>
          <a:p>
            <a:pPr marL="0" indent="0">
              <a:buNone/>
            </a:pPr>
            <a:r>
              <a:rPr lang="en-US" dirty="0"/>
              <a:t>  structured way for making</a:t>
            </a:r>
          </a:p>
          <a:p>
            <a:pPr marL="0" indent="0">
              <a:buNone/>
            </a:pPr>
            <a:r>
              <a:rPr lang="en-US" dirty="0"/>
              <a:t>  sure to use a loose coupling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90117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rafik 34">
            <a:extLst>
              <a:ext uri="{FF2B5EF4-FFF2-40B4-BE49-F238E27FC236}">
                <a16:creationId xmlns:a16="http://schemas.microsoft.com/office/drawing/2014/main" id="{C2C6FBFD-5B98-4164-9999-DF414B036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575" y="692441"/>
            <a:ext cx="7210425" cy="560652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DA41C9B-3C90-45B8-9162-7D5132486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Realization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29F9E6A-4234-491F-A0F3-4EE794CF5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4. Realization</a:t>
            </a:r>
            <a:endParaRPr lang="de-DE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6722E48B-F743-4968-8FD7-6E8C6AC7E1DD}"/>
              </a:ext>
            </a:extLst>
          </p:cNvPr>
          <p:cNvSpPr txBox="1">
            <a:spLocks/>
          </p:cNvSpPr>
          <p:nvPr/>
        </p:nvSpPr>
        <p:spPr>
          <a:xfrm>
            <a:off x="334108" y="1274885"/>
            <a:ext cx="11019692" cy="49243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GRPC program schedule</a:t>
            </a:r>
          </a:p>
          <a:p>
            <a:pPr marL="0" indent="0">
              <a:buNone/>
            </a:pPr>
            <a:r>
              <a:rPr lang="en-US" dirty="0"/>
              <a:t>  of the GRPC stand alone</a:t>
            </a:r>
          </a:p>
          <a:p>
            <a:pPr marL="0" indent="0">
              <a:buNone/>
            </a:pPr>
            <a:r>
              <a:rPr lang="en-US" dirty="0"/>
              <a:t>  server looks as the following: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1D0D3524-E0E3-44FC-9ECA-889F3C4C1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729" y="792957"/>
            <a:ext cx="600075" cy="92392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BBE40EB-642C-4356-9416-C2334DA4F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8841" y="1728914"/>
            <a:ext cx="1847850" cy="62865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131E2DE7-32B0-478B-98A5-898FDFF9F4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416" y="2369596"/>
            <a:ext cx="1819275" cy="104775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0ACAD98-6C7F-4B1A-A3D8-6DCBC87D68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2215" y="3429378"/>
            <a:ext cx="1209675" cy="14859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9741E189-5989-483A-936A-F02EA5291C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0572" y="3429378"/>
            <a:ext cx="1047750" cy="923925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DFBE991B-A7AD-4076-9796-04B6070FB5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1241" y="2983017"/>
            <a:ext cx="657225" cy="447675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25FDC1FE-F4E5-486A-9C16-17C3593CB3F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59316" y="4927310"/>
            <a:ext cx="1857375" cy="123825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723D20FB-D2C4-41EC-9B6E-F5510E41C27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16691" y="1168632"/>
            <a:ext cx="1466850" cy="4772025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EB97B8FA-9AEB-4324-AD7F-8036ECB2197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83541" y="1379136"/>
            <a:ext cx="1847850" cy="971550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A293FCC2-EBA0-4351-B3B2-5246F4D11F3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92321" y="2331596"/>
            <a:ext cx="1857375" cy="1143000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A14F839E-9F6F-4084-96AA-3FCE09B30B1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06608" y="3465312"/>
            <a:ext cx="1828800" cy="1209675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14CEBD2D-6765-4973-9D9D-B4495A6F454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93166" y="4670676"/>
            <a:ext cx="1819275" cy="1514475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BB01DD7D-A90C-4310-B45C-55D59F57893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28833" y="5380038"/>
            <a:ext cx="12858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518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C5B95A-95E1-41B4-BDA5-E77D0BEF8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Realization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EA94EE-BF80-4D91-A835-1C7A55F5C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whole application is </a:t>
            </a:r>
          </a:p>
          <a:p>
            <a:pPr marL="0" indent="0">
              <a:buNone/>
            </a:pPr>
            <a:r>
              <a:rPr lang="en-US" dirty="0"/>
              <a:t>  structured in the following</a:t>
            </a:r>
          </a:p>
          <a:p>
            <a:pPr marL="0" indent="0">
              <a:buNone/>
            </a:pPr>
            <a:r>
              <a:rPr lang="en-US" dirty="0"/>
              <a:t>  way by using regions of the</a:t>
            </a:r>
          </a:p>
          <a:p>
            <a:pPr marL="0" indent="0">
              <a:buNone/>
            </a:pPr>
            <a:r>
              <a:rPr lang="en-US" dirty="0"/>
              <a:t>  PRISM framework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F1A25B6-B64A-46B2-B08C-06099493B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4. Realization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ED17F21-5735-46A0-84D9-F2E035FD3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769" y="900482"/>
            <a:ext cx="6946232" cy="430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550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8EB434-6125-4CCA-B41B-02C98571A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Test coverage determination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356FBD-3327-4294-A1E5-4A1BBC231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0" i="0" u="none" strike="noStrike" baseline="0" dirty="0"/>
              <a:t>0. Connection to an unknown </a:t>
            </a:r>
          </a:p>
          <a:p>
            <a:pPr marL="0" indent="0" algn="l">
              <a:buNone/>
            </a:pPr>
            <a:r>
              <a:rPr lang="en-US" dirty="0"/>
              <a:t>  </a:t>
            </a:r>
            <a:r>
              <a:rPr lang="en-US" b="0" i="0" u="none" strike="noStrike" baseline="0" dirty="0"/>
              <a:t>component</a:t>
            </a:r>
          </a:p>
          <a:p>
            <a:pPr marL="0" indent="0" algn="l">
              <a:buNone/>
            </a:pPr>
            <a:r>
              <a:rPr lang="en-US" b="0" i="0" u="none" strike="noStrike" baseline="0" dirty="0"/>
              <a:t>1. Connection to a pull up resistor</a:t>
            </a:r>
          </a:p>
          <a:p>
            <a:pPr marL="0" indent="0" algn="l">
              <a:buNone/>
            </a:pPr>
            <a:r>
              <a:rPr lang="en-US" b="0" i="0" u="none" strike="noStrike" baseline="0" dirty="0"/>
              <a:t>2. Connection to a pull down resistor</a:t>
            </a:r>
          </a:p>
          <a:p>
            <a:pPr marL="0" indent="0" algn="l">
              <a:buNone/>
            </a:pPr>
            <a:r>
              <a:rPr lang="en-US" b="0" i="0" u="none" strike="noStrike" baseline="0" dirty="0"/>
              <a:t>3. Connection to anything</a:t>
            </a:r>
          </a:p>
          <a:p>
            <a:pPr marL="0" indent="0" algn="l">
              <a:buNone/>
            </a:pPr>
            <a:r>
              <a:rPr lang="en-US" b="0" i="0" u="none" strike="noStrike" baseline="0" dirty="0"/>
              <a:t>4. Connection to another IC</a:t>
            </a:r>
          </a:p>
          <a:p>
            <a:pPr marL="0" indent="0" algn="l">
              <a:buNone/>
            </a:pPr>
            <a:r>
              <a:rPr lang="en-US" b="0" i="0" u="none" strike="noStrike" baseline="0" dirty="0"/>
              <a:t>5. Connection to another JTAG device</a:t>
            </a:r>
          </a:p>
          <a:p>
            <a:pPr marL="0" indent="0" algn="l">
              <a:buNone/>
            </a:pPr>
            <a:r>
              <a:rPr lang="en-US" b="0" i="0" u="none" strike="noStrike" baseline="0" dirty="0"/>
              <a:t>6. A pin which is directly a JTAG </a:t>
            </a:r>
          </a:p>
          <a:p>
            <a:pPr marL="0" indent="0" algn="l">
              <a:buNone/>
            </a:pPr>
            <a:r>
              <a:rPr lang="en-US" dirty="0"/>
              <a:t>  </a:t>
            </a:r>
            <a:r>
              <a:rPr lang="en-US" b="0" i="0" u="none" strike="noStrike" baseline="0" dirty="0"/>
              <a:t>control pin (TDI, TDO, TMS, TCK)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E14D8A-F3F9-4093-A1EA-97DC32EF5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5. Test coverage determination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43AF01B-9B66-478B-A9B9-0527784EA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8552" y="708798"/>
            <a:ext cx="5733448" cy="546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562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AD4092-C86A-4939-A7B9-967C22CD0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Test coverage determination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90DEAB-F481-4742-977D-CABB5C1E9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 = the amount of total pins of all JTAG devices</a:t>
            </a:r>
          </a:p>
          <a:p>
            <a:r>
              <a:rPr lang="en-US" dirty="0"/>
              <a:t>JTAG test coverage = amount of total JTAG devices / Base</a:t>
            </a:r>
          </a:p>
          <a:p>
            <a:r>
              <a:rPr lang="en-US" dirty="0"/>
              <a:t>Pull up test coverage = amount of total pull up resistor nets / Base</a:t>
            </a:r>
          </a:p>
          <a:p>
            <a:r>
              <a:rPr lang="en-US" dirty="0"/>
              <a:t>Pull down test coverage = amount of total pull down resistor nets / Base</a:t>
            </a:r>
          </a:p>
          <a:p>
            <a:r>
              <a:rPr lang="de-DE" dirty="0" err="1"/>
              <a:t>Others</a:t>
            </a:r>
            <a:r>
              <a:rPr lang="de-DE" dirty="0"/>
              <a:t> </a:t>
            </a:r>
            <a:r>
              <a:rPr lang="en-US" dirty="0"/>
              <a:t>test coverage </a:t>
            </a:r>
            <a:r>
              <a:rPr lang="de-DE" dirty="0"/>
              <a:t>= </a:t>
            </a:r>
            <a:r>
              <a:rPr lang="de-DE" dirty="0" err="1"/>
              <a:t>amount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connected</a:t>
            </a:r>
            <a:r>
              <a:rPr lang="de-DE" dirty="0"/>
              <a:t> </a:t>
            </a:r>
            <a:r>
              <a:rPr lang="de-DE" dirty="0" err="1"/>
              <a:t>component</a:t>
            </a:r>
            <a:r>
              <a:rPr lang="de-DE" dirty="0"/>
              <a:t> </a:t>
            </a:r>
            <a:r>
              <a:rPr lang="de-DE" dirty="0" err="1"/>
              <a:t>nets</a:t>
            </a:r>
            <a:r>
              <a:rPr lang="de-DE" dirty="0"/>
              <a:t> / Base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EA882C7-1DB9-46BA-BB93-52C1354D3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5. Test coverage determination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96261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rafik 34">
            <a:extLst>
              <a:ext uri="{FF2B5EF4-FFF2-40B4-BE49-F238E27FC236}">
                <a16:creationId xmlns:a16="http://schemas.microsoft.com/office/drawing/2014/main" id="{643E3229-8534-4988-999F-751B8FBB9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808924"/>
            <a:ext cx="8144086" cy="527348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9F9496D-8469-4A60-8F37-32E78C54C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Test coverage determination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4FF50F9-5C0D-4781-9912-296188D9B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Proprietary and confidential information of ProMik</a:t>
            </a:r>
            <a:endParaRPr lang="de-DE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A406464-5B1D-4641-954B-B780E9682FBC}"/>
              </a:ext>
            </a:extLst>
          </p:cNvPr>
          <p:cNvSpPr txBox="1">
            <a:spLocks/>
          </p:cNvSpPr>
          <p:nvPr/>
        </p:nvSpPr>
        <p:spPr>
          <a:xfrm>
            <a:off x="334108" y="1274885"/>
            <a:ext cx="11019692" cy="49243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 dependency on the BSDL file</a:t>
            </a:r>
          </a:p>
          <a:p>
            <a:pPr marL="0" indent="0">
              <a:buNone/>
            </a:pPr>
            <a:r>
              <a:rPr lang="en-US" dirty="0"/>
              <a:t>  then the SVF files could be </a:t>
            </a:r>
          </a:p>
          <a:p>
            <a:pPr marL="0" indent="0">
              <a:buNone/>
            </a:pPr>
            <a:r>
              <a:rPr lang="en-US" dirty="0"/>
              <a:t>  generated for all pull up,</a:t>
            </a:r>
          </a:p>
          <a:p>
            <a:pPr marL="0" indent="0">
              <a:buNone/>
            </a:pPr>
            <a:r>
              <a:rPr lang="en-US" dirty="0"/>
              <a:t>  pull down resistors</a:t>
            </a:r>
          </a:p>
          <a:p>
            <a:pPr marL="0" indent="0">
              <a:buNone/>
            </a:pPr>
            <a:r>
              <a:rPr lang="en-US" dirty="0"/>
              <a:t>  and unknown </a:t>
            </a:r>
          </a:p>
          <a:p>
            <a:pPr marL="0" indent="0">
              <a:buNone/>
            </a:pPr>
            <a:r>
              <a:rPr lang="en-US" dirty="0"/>
              <a:t>  components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997E57A-F54B-46E8-8001-50B467F89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179" y="829376"/>
            <a:ext cx="1609725" cy="161925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F88FE1B-2B8D-42E2-B83A-416A3EE468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9113" y="2448626"/>
            <a:ext cx="3990975" cy="1190625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1A8F3EAD-2D9E-4FF2-9536-B77137EAAA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9416" y="3639251"/>
            <a:ext cx="4000500" cy="1190625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BE0648BD-4787-45F8-AE25-424FF74107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5079" y="1953326"/>
            <a:ext cx="276225" cy="287655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526AB950-C4D6-4035-BF0D-AB9436473A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9196" y="1613397"/>
            <a:ext cx="1714500" cy="83820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987B5027-0EA0-4E2C-B6DE-FE43EA6CEC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7707" y="1613397"/>
            <a:ext cx="1647825" cy="87630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6C3EF094-4F56-49D7-86B3-2BCDA58898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5828" y="2448626"/>
            <a:ext cx="1676400" cy="1190625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CA8AEB74-473E-4DE3-9FB7-6616D1B234B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47231" y="2820589"/>
            <a:ext cx="1628775" cy="895350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C7568BD8-4B7B-44C2-9F1F-3036BEDDBC4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38241" y="3644067"/>
            <a:ext cx="1685925" cy="1219200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D02B7D07-0B6C-4AA1-A4F0-E5EE9E81ECB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56757" y="4026133"/>
            <a:ext cx="1628775" cy="895350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4BA1771E-F0FE-4F7A-9869-451D1A7143E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56757" y="1282505"/>
            <a:ext cx="1504950" cy="285750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F8E56732-135D-4435-B77F-3129C5E2C8E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89476" y="4820351"/>
            <a:ext cx="1609725" cy="1200150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EFE323D6-5905-4BCB-942A-E315EBE3109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85856" y="4812992"/>
            <a:ext cx="381000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890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rafik 120">
            <a:extLst>
              <a:ext uri="{FF2B5EF4-FFF2-40B4-BE49-F238E27FC236}">
                <a16:creationId xmlns:a16="http://schemas.microsoft.com/office/drawing/2014/main" id="{AAC21451-FDC8-4F0D-BACE-07AA173C6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809" y="0"/>
            <a:ext cx="8786219" cy="6858000"/>
          </a:xfrm>
          <a:prstGeom prst="rect">
            <a:avLst/>
          </a:prstGeom>
        </p:spPr>
      </p:pic>
      <p:pic>
        <p:nvPicPr>
          <p:cNvPr id="107" name="Grafik 106">
            <a:extLst>
              <a:ext uri="{FF2B5EF4-FFF2-40B4-BE49-F238E27FC236}">
                <a16:creationId xmlns:a16="http://schemas.microsoft.com/office/drawing/2014/main" id="{CD53E29C-66EC-4CAF-884F-C84537EEB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4118" y="658812"/>
            <a:ext cx="1257300" cy="58293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F0825394-26EA-4E13-B2CA-A2DB0D7E1E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6637" y="1360610"/>
            <a:ext cx="1304925" cy="9906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843A8EB-59A7-48DB-AC9D-56138C875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Application </a:t>
            </a:r>
            <a:br>
              <a:rPr lang="en-US" dirty="0"/>
            </a:br>
            <a:r>
              <a:rPr lang="en-US" dirty="0"/>
              <a:t>    overview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268AA01-D00E-4720-B45E-D0220BA20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Proprietary and confidential information of ProMik</a:t>
            </a:r>
            <a:endParaRPr lang="de-DE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2192564D-A1CF-49F1-B11F-D1AD9D3C8FB4}"/>
              </a:ext>
            </a:extLst>
          </p:cNvPr>
          <p:cNvSpPr txBox="1">
            <a:spLocks/>
          </p:cNvSpPr>
          <p:nvPr/>
        </p:nvSpPr>
        <p:spPr>
          <a:xfrm>
            <a:off x="334108" y="1274885"/>
            <a:ext cx="11019692" cy="49243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There was</a:t>
            </a:r>
          </a:p>
          <a:p>
            <a:pPr marL="0" indent="0">
              <a:buNone/>
            </a:pPr>
            <a:r>
              <a:rPr lang="en-US" dirty="0"/>
              <a:t>  definitely provided</a:t>
            </a:r>
          </a:p>
          <a:p>
            <a:pPr marL="0" indent="0">
              <a:buNone/>
            </a:pPr>
            <a:r>
              <a:rPr lang="en-US" dirty="0"/>
              <a:t>  a </a:t>
            </a:r>
            <a:r>
              <a:rPr lang="en-US" dirty="0" err="1"/>
              <a:t>powerfull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graphical tool for</a:t>
            </a:r>
          </a:p>
          <a:p>
            <a:pPr marL="0" indent="0">
              <a:buNone/>
            </a:pPr>
            <a:r>
              <a:rPr lang="en-US" dirty="0"/>
              <a:t>  being able to </a:t>
            </a:r>
          </a:p>
          <a:p>
            <a:pPr marL="0" indent="0">
              <a:buNone/>
            </a:pPr>
            <a:r>
              <a:rPr lang="en-US" dirty="0"/>
              <a:t>  determine test</a:t>
            </a:r>
          </a:p>
          <a:p>
            <a:pPr marL="0" indent="0">
              <a:buNone/>
            </a:pPr>
            <a:r>
              <a:rPr lang="en-US" dirty="0"/>
              <a:t>  coverage values</a:t>
            </a:r>
          </a:p>
          <a:p>
            <a:pPr marL="0" indent="0">
              <a:buNone/>
            </a:pPr>
            <a:r>
              <a:rPr lang="en-US" dirty="0"/>
              <a:t>  and create SVF</a:t>
            </a:r>
          </a:p>
          <a:p>
            <a:pPr marL="0" indent="0">
              <a:buNone/>
            </a:pPr>
            <a:r>
              <a:rPr lang="en-US" dirty="0"/>
              <a:t>  files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A6DB68D4-50AD-42E7-BFCB-5021E595CC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5705" y="1031997"/>
            <a:ext cx="247650" cy="485775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06D593D4-49AC-465C-BEF8-C03C77A193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3355" y="1189160"/>
            <a:ext cx="962025" cy="17145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FD640CDD-7733-4BFB-A848-A5A12F37EF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46220" y="1908713"/>
            <a:ext cx="1171575" cy="32004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0402F7F-74B3-40EA-B7AD-1FC56CE33F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4902" y="900483"/>
            <a:ext cx="6772275" cy="480060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75E87C2A-14F0-4D49-B507-116A7E272A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7128" y="4957959"/>
            <a:ext cx="180975" cy="123825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C4BC1148-81B8-4B64-919F-95C7353E227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68370" y="4574496"/>
            <a:ext cx="838200" cy="112395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1F36298A-B7B7-4A98-8301-B837B8200E1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76114" y="5097671"/>
            <a:ext cx="1028700" cy="152400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8BCE1173-6827-4EB0-9F32-488156D20BF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77870" y="5723896"/>
            <a:ext cx="1219200" cy="447675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B42F159E-6D92-41BE-913C-6A293E69145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43325" y="4402334"/>
            <a:ext cx="276225" cy="552450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E11846DF-2BD7-452A-A12B-FA54D1F7F14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22809" y="2766484"/>
            <a:ext cx="1314450" cy="1352550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6E5843A9-81C1-471E-B650-8B4A2E69BA3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16630" y="3622865"/>
            <a:ext cx="685800" cy="771525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E1682D82-DF7C-4B7E-9E59-CEB21F32622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67333" y="5241246"/>
            <a:ext cx="1028700" cy="142875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19ABF4DA-C939-4CE5-9A71-C028B688C21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07989" y="4890037"/>
            <a:ext cx="723900" cy="752475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9A86A24B-E94B-435F-9E9D-EB9F72E1980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60414" y="3178175"/>
            <a:ext cx="371475" cy="1752600"/>
          </a:xfrm>
          <a:prstGeom prst="rect">
            <a:avLst/>
          </a:prstGeom>
        </p:spPr>
      </p:pic>
      <p:pic>
        <p:nvPicPr>
          <p:cNvPr id="43" name="Grafik 42">
            <a:extLst>
              <a:ext uri="{FF2B5EF4-FFF2-40B4-BE49-F238E27FC236}">
                <a16:creationId xmlns:a16="http://schemas.microsoft.com/office/drawing/2014/main" id="{7B593CB5-DF5D-4055-877F-E8712B5E4D0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53859" y="1025647"/>
            <a:ext cx="885825" cy="1571625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C1D6E30F-621A-48FD-A9FB-A8EE9B5A679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992053" y="1693856"/>
            <a:ext cx="1800225" cy="1476375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E1F38BE0-7746-4E68-8812-32DFF45561A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08727" y="933821"/>
            <a:ext cx="457200" cy="419100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6FBE96AA-4796-4459-AD2A-17647012A96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175498" y="1694232"/>
            <a:ext cx="819150" cy="152400"/>
          </a:xfrm>
          <a:prstGeom prst="rect">
            <a:avLst/>
          </a:prstGeom>
        </p:spPr>
      </p:pic>
      <p:pic>
        <p:nvPicPr>
          <p:cNvPr id="55" name="Grafik 54">
            <a:extLst>
              <a:ext uri="{FF2B5EF4-FFF2-40B4-BE49-F238E27FC236}">
                <a16:creationId xmlns:a16="http://schemas.microsoft.com/office/drawing/2014/main" id="{35770651-1532-4984-8FAA-01BB047BA1F1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216748" y="3168524"/>
            <a:ext cx="1485900" cy="733425"/>
          </a:xfrm>
          <a:prstGeom prst="rect">
            <a:avLst/>
          </a:prstGeom>
        </p:spPr>
      </p:pic>
      <p:pic>
        <p:nvPicPr>
          <p:cNvPr id="61" name="Grafik 60">
            <a:extLst>
              <a:ext uri="{FF2B5EF4-FFF2-40B4-BE49-F238E27FC236}">
                <a16:creationId xmlns:a16="http://schemas.microsoft.com/office/drawing/2014/main" id="{07E43532-2831-40A5-AF77-0A53FC4380D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13470" y="3919164"/>
            <a:ext cx="1866900" cy="1743075"/>
          </a:xfrm>
          <a:prstGeom prst="rect">
            <a:avLst/>
          </a:prstGeom>
        </p:spPr>
      </p:pic>
      <p:pic>
        <p:nvPicPr>
          <p:cNvPr id="63" name="Grafik 62">
            <a:extLst>
              <a:ext uri="{FF2B5EF4-FFF2-40B4-BE49-F238E27FC236}">
                <a16:creationId xmlns:a16="http://schemas.microsoft.com/office/drawing/2014/main" id="{30BE78C3-EF42-4870-B7AB-0A783A18222D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46772" y="5682008"/>
            <a:ext cx="523875" cy="933450"/>
          </a:xfrm>
          <a:prstGeom prst="rect">
            <a:avLst/>
          </a:prstGeom>
        </p:spPr>
      </p:pic>
      <p:pic>
        <p:nvPicPr>
          <p:cNvPr id="65" name="Grafik 64">
            <a:extLst>
              <a:ext uri="{FF2B5EF4-FFF2-40B4-BE49-F238E27FC236}">
                <a16:creationId xmlns:a16="http://schemas.microsoft.com/office/drawing/2014/main" id="{B396F5C3-62DE-4EEF-ADBF-60942FB4DE6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070647" y="5684329"/>
            <a:ext cx="257175" cy="619125"/>
          </a:xfrm>
          <a:prstGeom prst="rect">
            <a:avLst/>
          </a:prstGeom>
        </p:spPr>
      </p:pic>
      <p:pic>
        <p:nvPicPr>
          <p:cNvPr id="67" name="Grafik 66">
            <a:extLst>
              <a:ext uri="{FF2B5EF4-FFF2-40B4-BE49-F238E27FC236}">
                <a16:creationId xmlns:a16="http://schemas.microsoft.com/office/drawing/2014/main" id="{6A5D8602-3831-41B7-B24D-2BA389C01AF6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226242" y="4909764"/>
            <a:ext cx="209550" cy="752475"/>
          </a:xfrm>
          <a:prstGeom prst="rect">
            <a:avLst/>
          </a:prstGeom>
        </p:spPr>
      </p:pic>
      <p:pic>
        <p:nvPicPr>
          <p:cNvPr id="69" name="Grafik 68">
            <a:extLst>
              <a:ext uri="{FF2B5EF4-FFF2-40B4-BE49-F238E27FC236}">
                <a16:creationId xmlns:a16="http://schemas.microsoft.com/office/drawing/2014/main" id="{409536CC-7F18-479F-801D-F9A78976A160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434199" y="4630611"/>
            <a:ext cx="1304925" cy="714375"/>
          </a:xfrm>
          <a:prstGeom prst="rect">
            <a:avLst/>
          </a:prstGeom>
        </p:spPr>
      </p:pic>
      <p:pic>
        <p:nvPicPr>
          <p:cNvPr id="71" name="Grafik 70">
            <a:extLst>
              <a:ext uri="{FF2B5EF4-FFF2-40B4-BE49-F238E27FC236}">
                <a16:creationId xmlns:a16="http://schemas.microsoft.com/office/drawing/2014/main" id="{6AB27A84-F2F9-4885-BBA9-B33B1DA4ECD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739124" y="4557909"/>
            <a:ext cx="542925" cy="523875"/>
          </a:xfrm>
          <a:prstGeom prst="rect">
            <a:avLst/>
          </a:prstGeom>
        </p:spPr>
      </p:pic>
      <p:pic>
        <p:nvPicPr>
          <p:cNvPr id="73" name="Grafik 72">
            <a:extLst>
              <a:ext uri="{FF2B5EF4-FFF2-40B4-BE49-F238E27FC236}">
                <a16:creationId xmlns:a16="http://schemas.microsoft.com/office/drawing/2014/main" id="{69FB2719-0B5C-4DD9-9FF4-2F37862463C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808079" y="4153096"/>
            <a:ext cx="438150" cy="409575"/>
          </a:xfrm>
          <a:prstGeom prst="rect">
            <a:avLst/>
          </a:prstGeom>
        </p:spPr>
      </p:pic>
      <p:pic>
        <p:nvPicPr>
          <p:cNvPr id="75" name="Grafik 74">
            <a:extLst>
              <a:ext uri="{FF2B5EF4-FFF2-40B4-BE49-F238E27FC236}">
                <a16:creationId xmlns:a16="http://schemas.microsoft.com/office/drawing/2014/main" id="{4D36A6C0-3BF9-45A7-91EB-D611DFBA52B6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282049" y="4566187"/>
            <a:ext cx="638175" cy="533400"/>
          </a:xfrm>
          <a:prstGeom prst="rect">
            <a:avLst/>
          </a:prstGeom>
        </p:spPr>
      </p:pic>
      <p:pic>
        <p:nvPicPr>
          <p:cNvPr id="77" name="Grafik 76">
            <a:extLst>
              <a:ext uri="{FF2B5EF4-FFF2-40B4-BE49-F238E27FC236}">
                <a16:creationId xmlns:a16="http://schemas.microsoft.com/office/drawing/2014/main" id="{A2B38975-783C-4C9A-AF23-40A0E2C0467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358938" y="4142948"/>
            <a:ext cx="428625" cy="419100"/>
          </a:xfrm>
          <a:prstGeom prst="rect">
            <a:avLst/>
          </a:prstGeom>
        </p:spPr>
      </p:pic>
      <p:pic>
        <p:nvPicPr>
          <p:cNvPr id="79" name="Grafik 78">
            <a:extLst>
              <a:ext uri="{FF2B5EF4-FFF2-40B4-BE49-F238E27FC236}">
                <a16:creationId xmlns:a16="http://schemas.microsoft.com/office/drawing/2014/main" id="{47F9084B-3048-4E80-B201-B63365358CB6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847058" y="3972115"/>
            <a:ext cx="857250" cy="180975"/>
          </a:xfrm>
          <a:prstGeom prst="rect">
            <a:avLst/>
          </a:prstGeom>
        </p:spPr>
      </p:pic>
      <p:pic>
        <p:nvPicPr>
          <p:cNvPr id="81" name="Grafik 80">
            <a:extLst>
              <a:ext uri="{FF2B5EF4-FFF2-40B4-BE49-F238E27FC236}">
                <a16:creationId xmlns:a16="http://schemas.microsoft.com/office/drawing/2014/main" id="{137FF563-AD70-44BE-BB65-E540E000D130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910381" y="4646780"/>
            <a:ext cx="1314450" cy="676275"/>
          </a:xfrm>
          <a:prstGeom prst="rect">
            <a:avLst/>
          </a:prstGeom>
        </p:spPr>
      </p:pic>
      <p:pic>
        <p:nvPicPr>
          <p:cNvPr id="83" name="Grafik 82">
            <a:extLst>
              <a:ext uri="{FF2B5EF4-FFF2-40B4-BE49-F238E27FC236}">
                <a16:creationId xmlns:a16="http://schemas.microsoft.com/office/drawing/2014/main" id="{968744EC-7799-40DD-B595-8922191C9674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914729" y="4156259"/>
            <a:ext cx="1495425" cy="495300"/>
          </a:xfrm>
          <a:prstGeom prst="rect">
            <a:avLst/>
          </a:prstGeom>
        </p:spPr>
      </p:pic>
      <p:pic>
        <p:nvPicPr>
          <p:cNvPr id="85" name="Grafik 84">
            <a:extLst>
              <a:ext uri="{FF2B5EF4-FFF2-40B4-BE49-F238E27FC236}">
                <a16:creationId xmlns:a16="http://schemas.microsoft.com/office/drawing/2014/main" id="{AE8C002E-755F-4ED4-9B0A-ADAFCD694CF3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494481" y="3962589"/>
            <a:ext cx="152400" cy="200025"/>
          </a:xfrm>
          <a:prstGeom prst="rect">
            <a:avLst/>
          </a:prstGeom>
        </p:spPr>
      </p:pic>
      <p:pic>
        <p:nvPicPr>
          <p:cNvPr id="87" name="Grafik 86">
            <a:extLst>
              <a:ext uri="{FF2B5EF4-FFF2-40B4-BE49-F238E27FC236}">
                <a16:creationId xmlns:a16="http://schemas.microsoft.com/office/drawing/2014/main" id="{42BF409F-0681-4E61-B05A-FD691A58A35D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920224" y="3295821"/>
            <a:ext cx="1323975" cy="666750"/>
          </a:xfrm>
          <a:prstGeom prst="rect">
            <a:avLst/>
          </a:prstGeom>
        </p:spPr>
      </p:pic>
      <p:pic>
        <p:nvPicPr>
          <p:cNvPr id="89" name="Grafik 88">
            <a:extLst>
              <a:ext uri="{FF2B5EF4-FFF2-40B4-BE49-F238E27FC236}">
                <a16:creationId xmlns:a16="http://schemas.microsoft.com/office/drawing/2014/main" id="{5D066CCE-2F0C-4531-9178-4C88409C1F82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375814" y="2808886"/>
            <a:ext cx="333375" cy="495300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E6266A4B-C24C-4376-B915-D74E0669D1D3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060846" y="1051417"/>
            <a:ext cx="1266825" cy="838200"/>
          </a:xfrm>
          <a:prstGeom prst="rect">
            <a:avLst/>
          </a:prstGeom>
        </p:spPr>
      </p:pic>
      <p:pic>
        <p:nvPicPr>
          <p:cNvPr id="51" name="Grafik 50">
            <a:extLst>
              <a:ext uri="{FF2B5EF4-FFF2-40B4-BE49-F238E27FC236}">
                <a16:creationId xmlns:a16="http://schemas.microsoft.com/office/drawing/2014/main" id="{B0B6ADD1-A80A-4C9F-84F8-F5A181A4DD5E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056358" y="1855910"/>
            <a:ext cx="1790700" cy="1304925"/>
          </a:xfrm>
          <a:prstGeom prst="rect">
            <a:avLst/>
          </a:prstGeom>
        </p:spPr>
      </p:pic>
      <p:pic>
        <p:nvPicPr>
          <p:cNvPr id="95" name="Grafik 94">
            <a:extLst>
              <a:ext uri="{FF2B5EF4-FFF2-40B4-BE49-F238E27FC236}">
                <a16:creationId xmlns:a16="http://schemas.microsoft.com/office/drawing/2014/main" id="{B894C45A-4BD0-4D9A-A9E6-B7AFD546C37F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277746" y="1064574"/>
            <a:ext cx="2133600" cy="923925"/>
          </a:xfrm>
          <a:prstGeom prst="rect">
            <a:avLst/>
          </a:prstGeom>
        </p:spPr>
      </p:pic>
      <p:pic>
        <p:nvPicPr>
          <p:cNvPr id="93" name="Grafik 92">
            <a:extLst>
              <a:ext uri="{FF2B5EF4-FFF2-40B4-BE49-F238E27FC236}">
                <a16:creationId xmlns:a16="http://schemas.microsoft.com/office/drawing/2014/main" id="{29E3B1DE-A0CD-4EE8-BC28-0F60A21253D8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289507" y="1887691"/>
            <a:ext cx="1066800" cy="1409700"/>
          </a:xfrm>
          <a:prstGeom prst="rect">
            <a:avLst/>
          </a:prstGeom>
        </p:spPr>
      </p:pic>
      <p:pic>
        <p:nvPicPr>
          <p:cNvPr id="91" name="Grafik 90">
            <a:extLst>
              <a:ext uri="{FF2B5EF4-FFF2-40B4-BE49-F238E27FC236}">
                <a16:creationId xmlns:a16="http://schemas.microsoft.com/office/drawing/2014/main" id="{75631795-8EEF-4030-A3A0-6AE7E881A674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529381" y="2031500"/>
            <a:ext cx="2076450" cy="762000"/>
          </a:xfrm>
          <a:prstGeom prst="rect">
            <a:avLst/>
          </a:prstGeom>
        </p:spPr>
      </p:pic>
      <p:pic>
        <p:nvPicPr>
          <p:cNvPr id="97" name="Grafik 96">
            <a:extLst>
              <a:ext uri="{FF2B5EF4-FFF2-40B4-BE49-F238E27FC236}">
                <a16:creationId xmlns:a16="http://schemas.microsoft.com/office/drawing/2014/main" id="{CE86E9E9-000D-46B9-ABFE-C3D938C5185D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0167927" y="929058"/>
            <a:ext cx="952500" cy="200577"/>
          </a:xfrm>
          <a:prstGeom prst="rect">
            <a:avLst/>
          </a:prstGeom>
        </p:spPr>
      </p:pic>
      <p:pic>
        <p:nvPicPr>
          <p:cNvPr id="99" name="Grafik 98">
            <a:extLst>
              <a:ext uri="{FF2B5EF4-FFF2-40B4-BE49-F238E27FC236}">
                <a16:creationId xmlns:a16="http://schemas.microsoft.com/office/drawing/2014/main" id="{82C2832C-3040-4151-9D35-4A5BBBAB7CA0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0958503" y="684795"/>
            <a:ext cx="171450" cy="219075"/>
          </a:xfrm>
          <a:prstGeom prst="rect">
            <a:avLst/>
          </a:prstGeom>
        </p:spPr>
      </p:pic>
      <p:pic>
        <p:nvPicPr>
          <p:cNvPr id="101" name="Grafik 100">
            <a:extLst>
              <a:ext uri="{FF2B5EF4-FFF2-40B4-BE49-F238E27FC236}">
                <a16:creationId xmlns:a16="http://schemas.microsoft.com/office/drawing/2014/main" id="{18402063-0EC2-449C-819D-4E6BF5EE0131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0582211" y="29885"/>
            <a:ext cx="1343025" cy="666750"/>
          </a:xfrm>
          <a:prstGeom prst="rect">
            <a:avLst/>
          </a:prstGeom>
        </p:spPr>
      </p:pic>
      <p:pic>
        <p:nvPicPr>
          <p:cNvPr id="103" name="Grafik 102">
            <a:extLst>
              <a:ext uri="{FF2B5EF4-FFF2-40B4-BE49-F238E27FC236}">
                <a16:creationId xmlns:a16="http://schemas.microsoft.com/office/drawing/2014/main" id="{8FDF40A9-FD6B-42AC-A153-BAEA38F63343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1450397" y="918642"/>
            <a:ext cx="103177" cy="1172466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ACA9BB4F-09AE-4EDE-AA46-37CB38BDE6ED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1439570" y="690042"/>
            <a:ext cx="133350" cy="228600"/>
          </a:xfrm>
          <a:prstGeom prst="rect">
            <a:avLst/>
          </a:prstGeom>
        </p:spPr>
      </p:pic>
      <p:pic>
        <p:nvPicPr>
          <p:cNvPr id="109" name="Grafik 108">
            <a:extLst>
              <a:ext uri="{FF2B5EF4-FFF2-40B4-BE49-F238E27FC236}">
                <a16:creationId xmlns:a16="http://schemas.microsoft.com/office/drawing/2014/main" id="{AFF504EC-0DE0-49AB-B591-633DF2701F87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0225023" y="5880084"/>
            <a:ext cx="714375" cy="809625"/>
          </a:xfrm>
          <a:prstGeom prst="rect">
            <a:avLst/>
          </a:prstGeom>
        </p:spPr>
      </p:pic>
      <p:pic>
        <p:nvPicPr>
          <p:cNvPr id="111" name="Grafik 110">
            <a:extLst>
              <a:ext uri="{FF2B5EF4-FFF2-40B4-BE49-F238E27FC236}">
                <a16:creationId xmlns:a16="http://schemas.microsoft.com/office/drawing/2014/main" id="{254590C1-DA75-4D2B-83CA-0DAEF170BD07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0449296" y="5320905"/>
            <a:ext cx="276225" cy="342900"/>
          </a:xfrm>
          <a:prstGeom prst="rect">
            <a:avLst/>
          </a:prstGeom>
        </p:spPr>
      </p:pic>
      <p:pic>
        <p:nvPicPr>
          <p:cNvPr id="113" name="Grafik 112">
            <a:extLst>
              <a:ext uri="{FF2B5EF4-FFF2-40B4-BE49-F238E27FC236}">
                <a16:creationId xmlns:a16="http://schemas.microsoft.com/office/drawing/2014/main" id="{F1FB6D4F-ACC5-4BE2-90AD-929A18C90C12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0505278" y="5697457"/>
            <a:ext cx="152400" cy="180975"/>
          </a:xfrm>
          <a:prstGeom prst="rect">
            <a:avLst/>
          </a:prstGeom>
        </p:spPr>
      </p:pic>
      <p:pic>
        <p:nvPicPr>
          <p:cNvPr id="117" name="Grafik 116">
            <a:extLst>
              <a:ext uri="{FF2B5EF4-FFF2-40B4-BE49-F238E27FC236}">
                <a16:creationId xmlns:a16="http://schemas.microsoft.com/office/drawing/2014/main" id="{5BFD3E51-711E-4AD0-A43B-D2A193AEA006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7717615" y="5870760"/>
            <a:ext cx="2505075" cy="447675"/>
          </a:xfrm>
          <a:prstGeom prst="rect">
            <a:avLst/>
          </a:prstGeom>
        </p:spPr>
      </p:pic>
      <p:pic>
        <p:nvPicPr>
          <p:cNvPr id="119" name="Grafik 118">
            <a:extLst>
              <a:ext uri="{FF2B5EF4-FFF2-40B4-BE49-F238E27FC236}">
                <a16:creationId xmlns:a16="http://schemas.microsoft.com/office/drawing/2014/main" id="{2AA4BD6D-C8F6-47F2-971C-FA1321DE64F7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8356057" y="6325386"/>
            <a:ext cx="1876425" cy="428625"/>
          </a:xfrm>
          <a:prstGeom prst="rect">
            <a:avLst/>
          </a:prstGeom>
        </p:spPr>
      </p:pic>
      <p:pic>
        <p:nvPicPr>
          <p:cNvPr id="115" name="Grafik 114">
            <a:extLst>
              <a:ext uri="{FF2B5EF4-FFF2-40B4-BE49-F238E27FC236}">
                <a16:creationId xmlns:a16="http://schemas.microsoft.com/office/drawing/2014/main" id="{50EAA5A0-69B6-4F67-ADBC-4DC9750BC38A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9907286" y="6689709"/>
            <a:ext cx="1390650" cy="152400"/>
          </a:xfrm>
          <a:prstGeom prst="rect">
            <a:avLst/>
          </a:prstGeom>
        </p:spPr>
      </p:pic>
      <p:pic>
        <p:nvPicPr>
          <p:cNvPr id="47" name="Grafik 46">
            <a:extLst>
              <a:ext uri="{FF2B5EF4-FFF2-40B4-BE49-F238E27FC236}">
                <a16:creationId xmlns:a16="http://schemas.microsoft.com/office/drawing/2014/main" id="{8D8DC8F8-B87F-4B19-B1BB-CE833A0EC4D2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7290831" y="1362446"/>
            <a:ext cx="112395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439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500"/>
                            </p:stCondLst>
                            <p:childTnLst>
                              <p:par>
                                <p:cTn id="26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9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EBC706-A6CF-45B8-A4F3-AE937535E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Live demonstration of the created tool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116DF46-1578-4AFB-8BCF-074CAD295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the software itself should be showed live…</a:t>
            </a:r>
          </a:p>
          <a:p>
            <a:r>
              <a:rPr lang="en-US" dirty="0"/>
              <a:t>Please enjoy!!!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78B9E7A-FDE6-4163-BB57-B1FDD5DF4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7. </a:t>
            </a:r>
            <a:r>
              <a:rPr lang="en-US" dirty="0"/>
              <a:t>Live demonstration of the created tool</a:t>
            </a:r>
          </a:p>
        </p:txBody>
      </p:sp>
    </p:spTree>
    <p:extLst>
      <p:ext uri="{BB962C8B-B14F-4D97-AF65-F5344CB8AC3E}">
        <p14:creationId xmlns:p14="http://schemas.microsoft.com/office/powerpoint/2010/main" val="2297971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F807C1-9D94-4C8F-A476-74CFF7226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Questions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15728F-1BE3-4011-ABFE-406933AE9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 there any open questions regarding that project?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B475CD4-6F66-4316-9C5B-87662621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Proprietary and confidential information of ProMik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6710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1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8925"/>
      </a:accent1>
      <a:accent2>
        <a:srgbClr val="000000"/>
      </a:accent2>
      <a:accent3>
        <a:srgbClr val="A8A9AD"/>
      </a:accent3>
      <a:accent4>
        <a:srgbClr val="328925"/>
      </a:accent4>
      <a:accent5>
        <a:srgbClr val="25661B"/>
      </a:accent5>
      <a:accent6>
        <a:srgbClr val="6FD460"/>
      </a:accent6>
      <a:hlink>
        <a:srgbClr val="00B0F0"/>
      </a:hlink>
      <a:folHlink>
        <a:srgbClr val="0070C0"/>
      </a:folHlink>
    </a:clrScheme>
    <a:fontScheme name="ProMik Fonts">
      <a:majorFont>
        <a:latin typeface="Bahnschrift SemiBold SemiConden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667</Words>
  <Application>Microsoft Office PowerPoint</Application>
  <PresentationFormat>Breitbild</PresentationFormat>
  <Paragraphs>145</Paragraphs>
  <Slides>20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7" baseType="lpstr">
      <vt:lpstr>Arial</vt:lpstr>
      <vt:lpstr>Bahnschrift</vt:lpstr>
      <vt:lpstr>Bahnschrift Light</vt:lpstr>
      <vt:lpstr>Bahnschrift SemiBold SemiConden</vt:lpstr>
      <vt:lpstr>Calibri</vt:lpstr>
      <vt:lpstr>Wingdings</vt:lpstr>
      <vt:lpstr>1_Office Theme</vt:lpstr>
      <vt:lpstr>Conceptual design and realization of a graphical tool for determining the test coverage of digital circuit diagrams</vt:lpstr>
      <vt:lpstr>Content</vt:lpstr>
      <vt:lpstr>1. Fundamentals</vt:lpstr>
      <vt:lpstr>2. Requirements</vt:lpstr>
      <vt:lpstr>3. Conceptual design</vt:lpstr>
      <vt:lpstr>3. Conceptual design</vt:lpstr>
      <vt:lpstr>3. Conceptual design</vt:lpstr>
      <vt:lpstr>3. Conceptual design</vt:lpstr>
      <vt:lpstr>3. Conceptual design</vt:lpstr>
      <vt:lpstr>3. Conceptual design</vt:lpstr>
      <vt:lpstr>4. Realization</vt:lpstr>
      <vt:lpstr>4. Realization</vt:lpstr>
      <vt:lpstr>4. Realization</vt:lpstr>
      <vt:lpstr>4. Realization</vt:lpstr>
      <vt:lpstr>5. Test coverage determination</vt:lpstr>
      <vt:lpstr>5. Test coverage determination</vt:lpstr>
      <vt:lpstr>5. Test coverage determination</vt:lpstr>
      <vt:lpstr>6. Application      overview</vt:lpstr>
      <vt:lpstr>7. Live demonstration of the created tool</vt:lpstr>
      <vt:lpstr>8.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ProMik GmbH</dc:title>
  <dc:creator>Rosenberger Jens</dc:creator>
  <cp:lastModifiedBy>Matis Razvan</cp:lastModifiedBy>
  <cp:revision>408</cp:revision>
  <dcterms:created xsi:type="dcterms:W3CDTF">2020-01-23T13:14:51Z</dcterms:created>
  <dcterms:modified xsi:type="dcterms:W3CDTF">2021-06-08T06:35:33Z</dcterms:modified>
</cp:coreProperties>
</file>