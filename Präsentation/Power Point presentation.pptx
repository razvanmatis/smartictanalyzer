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2"/>
  </p:notesMasterIdLst>
  <p:sldIdLst>
    <p:sldId id="288" r:id="rId2"/>
    <p:sldId id="289" r:id="rId3"/>
    <p:sldId id="290" r:id="rId4"/>
    <p:sldId id="291" r:id="rId5"/>
    <p:sldId id="292" r:id="rId6"/>
    <p:sldId id="298" r:id="rId7"/>
    <p:sldId id="293" r:id="rId8"/>
    <p:sldId id="294" r:id="rId9"/>
    <p:sldId id="295" r:id="rId10"/>
    <p:sldId id="296" r:id="rId11"/>
    <p:sldId id="297" r:id="rId12"/>
    <p:sldId id="301" r:id="rId13"/>
    <p:sldId id="299" r:id="rId14"/>
    <p:sldId id="300" r:id="rId15"/>
    <p:sldId id="302" r:id="rId16"/>
    <p:sldId id="303" r:id="rId17"/>
    <p:sldId id="304" r:id="rId18"/>
    <p:sldId id="305" r:id="rId19"/>
    <p:sldId id="306" r:id="rId20"/>
    <p:sldId id="307" r:id="rId2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69D4EB-321D-45CA-88DD-F7AC0FDF6641}">
          <p14:sldIdLst>
            <p14:sldId id="288"/>
            <p14:sldId id="289"/>
            <p14:sldId id="290"/>
            <p14:sldId id="291"/>
            <p14:sldId id="292"/>
            <p14:sldId id="298"/>
            <p14:sldId id="293"/>
            <p14:sldId id="294"/>
            <p14:sldId id="295"/>
            <p14:sldId id="296"/>
            <p14:sldId id="297"/>
            <p14:sldId id="301"/>
            <p14:sldId id="299"/>
            <p14:sldId id="300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nberger Jens" initials="RJ" lastIdx="1" clrIdx="0">
    <p:extLst>
      <p:ext uri="{19B8F6BF-5375-455C-9EA6-DF929625EA0E}">
        <p15:presenceInfo xmlns:p15="http://schemas.microsoft.com/office/powerpoint/2012/main" userId="S-1-5-21-1011760252-1736729318-853761084-22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9244"/>
    <a:srgbClr val="CAC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36" autoAdjust="0"/>
    <p:restoredTop sz="86410"/>
  </p:normalViewPr>
  <p:slideViewPr>
    <p:cSldViewPr snapToGrid="0">
      <p:cViewPr varScale="1">
        <p:scale>
          <a:sx n="99" d="100"/>
          <a:sy n="99" d="100"/>
        </p:scale>
        <p:origin x="576" y="78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0D0E4-B194-4342-99B8-E890CA729E74}" type="datetimeFigureOut">
              <a:rPr lang="x-none" smtClean="0"/>
              <a:t>07.06.2021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6C4F1-6C68-45BD-8220-812B16D74F37}" type="slidenum">
              <a:rPr lang="x-none" smtClean="0"/>
              <a:t>‹Nr.›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8335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31AE-968E-404D-976A-7986A14B1A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8776B-BA7E-44EF-9F52-4AC7AEC829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ADAF-1C83-4082-A7A5-C84FF5732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184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5BE8-0931-4A1A-A8EE-4D1A440BA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9372600" cy="54048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2FC3-391A-4D4D-8080-5CEC1E2419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108" y="1274885"/>
            <a:ext cx="11019692" cy="4924303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D3A1C-CF72-42E9-A7D0-4F9E95E3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349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F9658-9EC0-4D4A-B06D-34693F7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0636A6-FE23-4FC5-81CB-463B2CEF4A14}"/>
              </a:ext>
            </a:extLst>
          </p:cNvPr>
          <p:cNvCxnSpPr>
            <a:cxnSpLocks/>
          </p:cNvCxnSpPr>
          <p:nvPr/>
        </p:nvCxnSpPr>
        <p:spPr>
          <a:xfrm>
            <a:off x="2530433" y="2585855"/>
            <a:ext cx="0" cy="18673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1F4317-6FC9-4755-8127-A2D2F9CE5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9845" y="3099792"/>
            <a:ext cx="3538537" cy="866775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2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185E2E4-8729-4A24-AEEE-F74FA16435FB}"/>
              </a:ext>
            </a:extLst>
          </p:cNvPr>
          <p:cNvSpPr/>
          <p:nvPr/>
        </p:nvSpPr>
        <p:spPr>
          <a:xfrm rot="16200000" flipH="1">
            <a:off x="5101806" y="-232196"/>
            <a:ext cx="6858003" cy="7322391"/>
          </a:xfrm>
          <a:prstGeom prst="triangle">
            <a:avLst>
              <a:gd name="adj" fmla="val 100000"/>
            </a:avLst>
          </a:prstGeom>
          <a:solidFill>
            <a:schemeClr val="accent3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584EF2D-04BC-4385-A8AC-0C5DFE57FE8C}"/>
              </a:ext>
            </a:extLst>
          </p:cNvPr>
          <p:cNvSpPr/>
          <p:nvPr/>
        </p:nvSpPr>
        <p:spPr>
          <a:xfrm rot="16200000" flipH="1">
            <a:off x="5860211" y="526211"/>
            <a:ext cx="6858000" cy="5805577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A9C40AD6-E4EA-479F-BFFD-52C24BE582F8}"/>
              </a:ext>
            </a:extLst>
          </p:cNvPr>
          <p:cNvSpPr/>
          <p:nvPr/>
        </p:nvSpPr>
        <p:spPr>
          <a:xfrm>
            <a:off x="8770873" y="0"/>
            <a:ext cx="3410309" cy="6858000"/>
          </a:xfrm>
          <a:prstGeom prst="triangle">
            <a:avLst>
              <a:gd name="adj" fmla="val 10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511AA-51D3-4315-9F6A-DA90F3C7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161A1-10DE-49EA-8556-51F5AE35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0428-E842-4E31-AB12-3BD1CB1D5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Proprietary and confidential information of ProMik</a:t>
            </a:r>
            <a:endParaRPr lang="de-DE" dirty="0"/>
          </a:p>
        </p:txBody>
      </p:sp>
      <p:pic>
        <p:nvPicPr>
          <p:cNvPr id="8" name="Grafik 9">
            <a:extLst>
              <a:ext uri="{FF2B5EF4-FFF2-40B4-BE49-F238E27FC236}">
                <a16:creationId xmlns:a16="http://schemas.microsoft.com/office/drawing/2014/main" id="{B2330B31-9CBA-4C79-BA1D-45D0B4652F9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92071" y="6247537"/>
            <a:ext cx="419776" cy="421248"/>
          </a:xfrm>
          <a:prstGeom prst="rect">
            <a:avLst/>
          </a:prstGeom>
        </p:spPr>
      </p:pic>
      <p:pic>
        <p:nvPicPr>
          <p:cNvPr id="7" name="Grafik 8">
            <a:extLst>
              <a:ext uri="{FF2B5EF4-FFF2-40B4-BE49-F238E27FC236}">
                <a16:creationId xmlns:a16="http://schemas.microsoft.com/office/drawing/2014/main" id="{987187FB-BB1A-464A-A187-73964224B0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3335" y="189215"/>
            <a:ext cx="1598512" cy="40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8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8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3AEA-6ABF-4E6D-B636-EFF31DAE3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1122363"/>
            <a:ext cx="11855116" cy="2387600"/>
          </a:xfrm>
        </p:spPr>
        <p:txBody>
          <a:bodyPr/>
          <a:lstStyle/>
          <a:p>
            <a:pPr algn="l"/>
            <a:r>
              <a:rPr lang="en-US" dirty="0"/>
              <a:t>Conceptual design and realization of a graphical tool for determining the test coverage of digital circuit diagrams</a:t>
            </a:r>
            <a:endParaRPr lang="de-DE" dirty="0"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C8D75-F734-480F-B92C-275C7CA21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dirty="0"/>
              <a:t>Master-Thesis presentation by</a:t>
            </a:r>
          </a:p>
          <a:p>
            <a:r>
              <a:rPr lang="en-US" dirty="0"/>
              <a:t>Razvan Matis</a:t>
            </a:r>
          </a:p>
          <a:p>
            <a:r>
              <a:rPr lang="en-US" dirty="0" err="1"/>
              <a:t>Matr</a:t>
            </a:r>
            <a:r>
              <a:rPr lang="en-US" dirty="0"/>
              <a:t>. Nr.: 2403005</a:t>
            </a:r>
          </a:p>
          <a:p>
            <a:pPr algn="l"/>
            <a:endParaRPr lang="de-DE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0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CC4CC-EA10-4626-9593-CBC8A394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C592BE-E855-4E3B-A9CA-1EF59CB32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Fundamentals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Conceptual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 coverage determination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Live demonstration of the created tool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2E598E-9A3F-466C-B39C-04987990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663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853470-BEB5-4C72-AA88-015263FB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Fundamentals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0DC190-918C-4060-AC4C-9D89C0298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ODB++ format</a:t>
            </a:r>
          </a:p>
          <a:p>
            <a:r>
              <a:rPr lang="en-US" dirty="0"/>
              <a:t>PCB Investigator</a:t>
            </a:r>
          </a:p>
          <a:p>
            <a:r>
              <a:rPr lang="en-US" dirty="0"/>
              <a:t>JTAG interface</a:t>
            </a:r>
          </a:p>
          <a:p>
            <a:r>
              <a:rPr lang="en-US" dirty="0"/>
              <a:t>Boundary scan tests</a:t>
            </a:r>
          </a:p>
          <a:p>
            <a:r>
              <a:rPr lang="en-US" dirty="0"/>
              <a:t>BSDL (Boundary scan description language)</a:t>
            </a:r>
          </a:p>
          <a:p>
            <a:r>
              <a:rPr lang="en-US" dirty="0"/>
              <a:t>SVF file format</a:t>
            </a:r>
          </a:p>
          <a:p>
            <a:r>
              <a:rPr lang="en-US" dirty="0"/>
              <a:t>Model-View-</a:t>
            </a:r>
            <a:r>
              <a:rPr lang="en-US" dirty="0" err="1"/>
              <a:t>ViewModel</a:t>
            </a:r>
            <a:r>
              <a:rPr lang="en-US" dirty="0"/>
              <a:t> design pattern</a:t>
            </a:r>
          </a:p>
          <a:p>
            <a:r>
              <a:rPr lang="en-US" dirty="0"/>
              <a:t>GRPC communication protocol</a:t>
            </a:r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78EC53-2AB5-436E-B05E-D9E9074A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1. Fundamentals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509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5A0B7-03A1-4E1C-A8FC-4138827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Requirements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FDA360-7866-446D-AF2B-46D1C515C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ODB++ project files</a:t>
            </a:r>
          </a:p>
          <a:p>
            <a:pPr lvl="1"/>
            <a:r>
              <a:rPr lang="en-US" dirty="0"/>
              <a:t>Different object related actions</a:t>
            </a:r>
          </a:p>
          <a:p>
            <a:r>
              <a:rPr lang="en-US" dirty="0"/>
              <a:t>Settings handling</a:t>
            </a:r>
          </a:p>
          <a:p>
            <a:r>
              <a:rPr lang="en-US" dirty="0"/>
              <a:t>Export / Import mechanism to / from JSON formatted files</a:t>
            </a:r>
          </a:p>
          <a:p>
            <a:r>
              <a:rPr lang="en-US" dirty="0"/>
              <a:t>Determination of different test coverage values</a:t>
            </a:r>
          </a:p>
          <a:p>
            <a:r>
              <a:rPr lang="en-US" dirty="0"/>
              <a:t>Creation of SVF files</a:t>
            </a:r>
          </a:p>
          <a:p>
            <a:r>
              <a:rPr lang="en-US" dirty="0"/>
              <a:t>Usage of in house libraries</a:t>
            </a:r>
          </a:p>
          <a:p>
            <a:pPr lvl="1"/>
            <a:r>
              <a:rPr lang="en-US" dirty="0" err="1"/>
              <a:t>LogPanel</a:t>
            </a:r>
            <a:endParaRPr lang="en-US" dirty="0"/>
          </a:p>
          <a:p>
            <a:pPr lvl="1"/>
            <a:r>
              <a:rPr lang="en-US" dirty="0" err="1"/>
              <a:t>SettingsPanel</a:t>
            </a:r>
            <a:endParaRPr lang="en-US" dirty="0"/>
          </a:p>
          <a:p>
            <a:pPr lvl="1"/>
            <a:r>
              <a:rPr lang="en-US" dirty="0" err="1"/>
              <a:t>SvfPlayer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8385CE-532B-4327-8CA5-B7FB5D0A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2. Requirements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701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D68C75-3285-467A-B61A-46CB0D49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EF9D7-20DF-4239-A723-9715D32E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language: C#</a:t>
            </a:r>
          </a:p>
          <a:p>
            <a:r>
              <a:rPr lang="en-US" dirty="0"/>
              <a:t>Used IDE: Visual Studio 2019 Community Edition</a:t>
            </a:r>
          </a:p>
          <a:p>
            <a:r>
              <a:rPr lang="en-US" dirty="0"/>
              <a:t>Patterns and frameworks used</a:t>
            </a:r>
          </a:p>
          <a:p>
            <a:pPr lvl="1"/>
            <a:r>
              <a:rPr lang="en-US" dirty="0"/>
              <a:t>Dependency injection</a:t>
            </a:r>
          </a:p>
          <a:p>
            <a:pPr lvl="1"/>
            <a:r>
              <a:rPr lang="en-US" dirty="0"/>
              <a:t>Material design</a:t>
            </a:r>
          </a:p>
          <a:p>
            <a:pPr lvl="1"/>
            <a:r>
              <a:rPr lang="en-US" dirty="0"/>
              <a:t>Factory pattern</a:t>
            </a:r>
          </a:p>
          <a:p>
            <a:pPr lvl="1"/>
            <a:r>
              <a:rPr lang="en-US" dirty="0"/>
              <a:t>Strategy pattern</a:t>
            </a:r>
          </a:p>
          <a:p>
            <a:pPr lvl="1"/>
            <a:r>
              <a:rPr lang="en-US" dirty="0"/>
              <a:t>Command pattern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665DE8-A945-4399-8B30-D24AC0BE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79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C95D0-6D55-4A5D-8A8D-70EFF5FC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D5A857-6858-42ED-BF1F-36D97A582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was the decision 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  </a:t>
            </a:r>
            <a:r>
              <a:rPr lang="de-DE" dirty="0" err="1"/>
              <a:t>made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separate</a:t>
            </a:r>
          </a:p>
          <a:p>
            <a:pPr marL="0" indent="0">
              <a:buNone/>
            </a:pPr>
            <a:r>
              <a:rPr lang="de-DE" dirty="0"/>
              <a:t> 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interest</a:t>
            </a:r>
            <a:r>
              <a:rPr lang="de-DE" dirty="0"/>
              <a:t> </a:t>
            </a:r>
            <a:r>
              <a:rPr lang="de-DE" dirty="0" err="1"/>
              <a:t>which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 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communicating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  GRPC </a:t>
            </a:r>
            <a:r>
              <a:rPr lang="de-DE" dirty="0" err="1"/>
              <a:t>requests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DDA20E-1D2A-4A67-82B6-C9E45000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D14124E-E452-42F2-8533-A4A60D045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387" y="900483"/>
            <a:ext cx="7167613" cy="45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9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6FF7E4E-B1A4-4D25-8DDC-4545FF84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361" y="900483"/>
            <a:ext cx="9669640" cy="51730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0F3AB5C-8FDF-485C-9BF8-66EE820C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3C8FEB-1945-4D32-B2CC-0FDA41F90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5599A10-0D55-4A36-B42A-253D06741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The used target frameworks</a:t>
            </a:r>
          </a:p>
          <a:p>
            <a:pPr marL="0" indent="0">
              <a:buNone/>
            </a:pPr>
            <a:r>
              <a:rPr lang="en-US" dirty="0"/>
              <a:t>  differ in dependency on the</a:t>
            </a:r>
          </a:p>
          <a:p>
            <a:pPr marL="0" indent="0">
              <a:buNone/>
            </a:pPr>
            <a:r>
              <a:rPr lang="en-US" dirty="0"/>
              <a:t>  realized project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045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8F2BDF-F774-4C81-BA72-B75F947E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9E0136-1C8E-4AC2-997A-19CC9868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3. Conceptual design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27DD60-7D41-4615-A0BC-FA2597C54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941" y="900483"/>
            <a:ext cx="7918059" cy="5560344"/>
          </a:xfrm>
          <a:prstGeom prst="rect">
            <a:avLst/>
          </a:prstGeom>
        </p:spPr>
      </p:pic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82BAD7-9374-42F1-A60C-763B1F893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The PCB Investigator API</a:t>
            </a:r>
          </a:p>
          <a:p>
            <a:pPr marL="0" indent="0">
              <a:buNone/>
            </a:pPr>
            <a:r>
              <a:rPr lang="en-US" dirty="0"/>
              <a:t>  provided a complex class </a:t>
            </a:r>
          </a:p>
          <a:p>
            <a:pPr marL="0" indent="0">
              <a:buNone/>
            </a:pPr>
            <a:r>
              <a:rPr lang="en-US" dirty="0"/>
              <a:t>  diagram for all objects of </a:t>
            </a:r>
          </a:p>
          <a:p>
            <a:pPr marL="0" indent="0">
              <a:buNone/>
            </a:pPr>
            <a:r>
              <a:rPr lang="en-US" dirty="0"/>
              <a:t>  interest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147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0E9FA-10D4-4599-9680-48A364BE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AA2E00-6C38-4097-8922-E502B4EA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ECF4DC-47C9-475D-9C0A-D02925479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47" y="1213108"/>
            <a:ext cx="8630653" cy="3920521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0BF31C6-213A-4EB0-9834-2B26BEC32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I transformed the class </a:t>
            </a:r>
          </a:p>
          <a:p>
            <a:pPr marL="0" indent="0">
              <a:buNone/>
            </a:pPr>
            <a:r>
              <a:rPr lang="en-US" dirty="0"/>
              <a:t>  diagram in a easier one</a:t>
            </a:r>
          </a:p>
          <a:p>
            <a:pPr marL="0" indent="0">
              <a:buNone/>
            </a:pPr>
            <a:r>
              <a:rPr lang="en-US" dirty="0"/>
              <a:t>  by having available</a:t>
            </a:r>
          </a:p>
          <a:p>
            <a:pPr marL="0" indent="0">
              <a:buNone/>
            </a:pPr>
            <a:r>
              <a:rPr lang="en-US" dirty="0"/>
              <a:t>  all information of</a:t>
            </a:r>
          </a:p>
          <a:p>
            <a:pPr marL="0" indent="0">
              <a:buNone/>
            </a:pPr>
            <a:r>
              <a:rPr lang="en-US" dirty="0"/>
              <a:t>  interest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32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77914-EE6B-42AB-A8E6-264608C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Conceptual design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8F8417-FC96-4F0D-8836-52B57CBC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226F32A-F3D2-48CC-9A27-95EE867C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307" y="1057645"/>
            <a:ext cx="6039693" cy="4715533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ED3E5AA-23DC-4EBA-9FF2-C0C5DD04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274885"/>
            <a:ext cx="11019692" cy="4924303"/>
          </a:xfrm>
        </p:spPr>
        <p:txBody>
          <a:bodyPr/>
          <a:lstStyle/>
          <a:p>
            <a:r>
              <a:rPr lang="en-US" dirty="0"/>
              <a:t>So it was ensured to be able to project</a:t>
            </a:r>
          </a:p>
          <a:p>
            <a:pPr marL="0" indent="0">
              <a:buNone/>
            </a:pPr>
            <a:r>
              <a:rPr lang="en-US" dirty="0"/>
              <a:t>  all connection possibilities which could</a:t>
            </a:r>
          </a:p>
          <a:p>
            <a:pPr marL="0" indent="0">
              <a:buNone/>
            </a:pPr>
            <a:r>
              <a:rPr lang="en-US" dirty="0"/>
              <a:t>  physically occur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72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EB9FD-77B4-4DDE-A5BD-CC2CCBB2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49ED7F-7676-40F0-83B5-39ED3980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were many</a:t>
            </a:r>
          </a:p>
          <a:p>
            <a:pPr marL="0" indent="0">
              <a:buNone/>
            </a:pPr>
            <a:r>
              <a:rPr lang="en-US" dirty="0"/>
              <a:t>  projects created</a:t>
            </a:r>
          </a:p>
          <a:p>
            <a:pPr marL="0" indent="0">
              <a:buNone/>
            </a:pPr>
            <a:r>
              <a:rPr lang="en-US" dirty="0"/>
              <a:t>  to make sure for</a:t>
            </a:r>
          </a:p>
          <a:p>
            <a:pPr marL="0" indent="0">
              <a:buNone/>
            </a:pPr>
            <a:r>
              <a:rPr lang="en-US" dirty="0"/>
              <a:t>  being able to use</a:t>
            </a:r>
          </a:p>
          <a:p>
            <a:pPr marL="0" indent="0">
              <a:buNone/>
            </a:pPr>
            <a:r>
              <a:rPr lang="en-US" dirty="0"/>
              <a:t>  them as</a:t>
            </a:r>
          </a:p>
          <a:p>
            <a:pPr marL="0" indent="0">
              <a:buNone/>
            </a:pPr>
            <a:r>
              <a:rPr lang="en-US" dirty="0"/>
              <a:t>  separately as </a:t>
            </a:r>
          </a:p>
          <a:p>
            <a:pPr marL="0" indent="0">
              <a:buNone/>
            </a:pPr>
            <a:r>
              <a:rPr lang="en-US" dirty="0"/>
              <a:t>  possible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2A2F40-E8B2-4D5E-921A-27B5CB19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4. Realization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DD49FE6-C06C-4F06-B59F-A65514CF3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342" y="658812"/>
            <a:ext cx="8784657" cy="553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0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607F39-E61D-4905-9D56-053F1087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4C9D10-C960-46E9-932B-2BBBA1E99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048" y="0"/>
            <a:ext cx="2168637" cy="584187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D3CA8-15D6-4EE9-93AB-E2B2E44F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F311062-D70F-426F-94FD-5617E781D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101" y="0"/>
            <a:ext cx="2168637" cy="6356350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1C9D03B-2B85-42A2-B2F0-9D9A71DFA853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solution itself was </a:t>
            </a:r>
          </a:p>
          <a:p>
            <a:pPr marL="0" indent="0">
              <a:buNone/>
            </a:pPr>
            <a:r>
              <a:rPr lang="en-US" dirty="0"/>
              <a:t>  created following a highly</a:t>
            </a:r>
          </a:p>
          <a:p>
            <a:pPr marL="0" indent="0">
              <a:buNone/>
            </a:pPr>
            <a:r>
              <a:rPr lang="en-US" dirty="0"/>
              <a:t>  structured way for making</a:t>
            </a:r>
          </a:p>
          <a:p>
            <a:pPr marL="0" indent="0">
              <a:buNone/>
            </a:pPr>
            <a:r>
              <a:rPr lang="en-US" dirty="0"/>
              <a:t>  sure to use a loose coupling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011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41C9B-3C90-45B8-9162-7D513248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BAC2810B-8728-4DC6-8B1E-02554E538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5887" y="774249"/>
            <a:ext cx="7206114" cy="538329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9F9E6A-4234-491F-A0F3-4EE794CF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722E48B-F743-4968-8FD7-6E8C6AC7E1DD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GRPC program schedule</a:t>
            </a:r>
          </a:p>
          <a:p>
            <a:pPr marL="0" indent="0">
              <a:buNone/>
            </a:pPr>
            <a:r>
              <a:rPr lang="en-US" dirty="0"/>
              <a:t>  of the GRPC stand alone</a:t>
            </a:r>
          </a:p>
          <a:p>
            <a:pPr marL="0" indent="0">
              <a:buNone/>
            </a:pPr>
            <a:r>
              <a:rPr lang="en-US" dirty="0"/>
              <a:t>  server looks as the following: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351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5B95A-95E1-41B4-BDA5-E77D0BEF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EA94EE-BF80-4D91-A835-1C7A55F5C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whole application is </a:t>
            </a:r>
          </a:p>
          <a:p>
            <a:pPr marL="0" indent="0">
              <a:buNone/>
            </a:pPr>
            <a:r>
              <a:rPr lang="en-US" dirty="0"/>
              <a:t>  structured in the following</a:t>
            </a:r>
          </a:p>
          <a:p>
            <a:pPr marL="0" indent="0">
              <a:buNone/>
            </a:pPr>
            <a:r>
              <a:rPr lang="en-US" dirty="0"/>
              <a:t>  way by using regions of the</a:t>
            </a:r>
          </a:p>
          <a:p>
            <a:pPr marL="0" indent="0">
              <a:buNone/>
            </a:pPr>
            <a:r>
              <a:rPr lang="en-US" dirty="0"/>
              <a:t>  PRISM framework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1A25B6-B64A-46B2-B08C-06099493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4. Realization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17F21-5735-46A0-84D9-F2E035FD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769" y="900482"/>
            <a:ext cx="6946232" cy="430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5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EB434-6125-4CCA-B41B-02C98571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356FBD-3327-4294-A1E5-4A1BBC231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u="none" strike="noStrike" baseline="0" dirty="0"/>
              <a:t>0. Connection to an unknown </a:t>
            </a:r>
          </a:p>
          <a:p>
            <a:pPr marL="0" indent="0" algn="l">
              <a:buNone/>
            </a:pPr>
            <a:r>
              <a:rPr lang="en-US" dirty="0"/>
              <a:t>  </a:t>
            </a:r>
            <a:r>
              <a:rPr lang="en-US" b="0" i="0" u="none" strike="noStrike" baseline="0" dirty="0"/>
              <a:t>component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1. Connection to a pull up resistor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2. Connection to a pull down resistor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3. Connection to anything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4. Connection to another IC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5. Connection to another JTAG device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6. A pin which is directly a JTAG </a:t>
            </a:r>
          </a:p>
          <a:p>
            <a:pPr marL="0" indent="0" algn="l">
              <a:buNone/>
            </a:pPr>
            <a:r>
              <a:rPr lang="en-US" dirty="0"/>
              <a:t>  </a:t>
            </a:r>
            <a:r>
              <a:rPr lang="en-US" b="0" i="0" u="none" strike="noStrike" baseline="0" dirty="0"/>
              <a:t>control pin (TDI, TDO, TMS, TCK)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E14D8A-F3F9-4093-A1EA-97DC32EF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43AF01B-9B66-478B-A9B9-0527784E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552" y="708798"/>
            <a:ext cx="5733448" cy="546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6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D4092-C86A-4939-A7B9-967C22CD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90DEAB-F481-4742-977D-CABB5C1E9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= the amount of total pins of all JTAG devices</a:t>
            </a:r>
          </a:p>
          <a:p>
            <a:r>
              <a:rPr lang="en-US" dirty="0"/>
              <a:t>JTAG test coverage = amount of total JTAG devices / Base</a:t>
            </a:r>
          </a:p>
          <a:p>
            <a:r>
              <a:rPr lang="en-US" dirty="0"/>
              <a:t>Pull up test coverage = amount of total pull up resistor nets / Base</a:t>
            </a:r>
          </a:p>
          <a:p>
            <a:r>
              <a:rPr lang="en-US" dirty="0"/>
              <a:t>Pull down test coverage = amount of total pull down resistor nets / Base</a:t>
            </a:r>
          </a:p>
          <a:p>
            <a:r>
              <a:rPr lang="de-DE" dirty="0" err="1"/>
              <a:t>Others</a:t>
            </a:r>
            <a:r>
              <a:rPr lang="de-DE" dirty="0"/>
              <a:t> </a:t>
            </a:r>
            <a:r>
              <a:rPr lang="en-US" dirty="0"/>
              <a:t>test coverage </a:t>
            </a:r>
            <a:r>
              <a:rPr lang="de-DE" dirty="0"/>
              <a:t>= </a:t>
            </a: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nets</a:t>
            </a:r>
            <a:r>
              <a:rPr lang="de-DE" dirty="0"/>
              <a:t> / Base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A882C7-1DB9-46BA-BB93-52C1354D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626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9496D-8469-4A60-8F37-32E78C54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 coverage determination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62E582D-E338-4310-9B06-16C5655D3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6733" y="803125"/>
            <a:ext cx="8255267" cy="5225499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FF50F9-5C0D-4781-9912-296188D9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A406464-5B1D-4641-954B-B780E9682FBC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dependency on the BSDL file</a:t>
            </a:r>
          </a:p>
          <a:p>
            <a:pPr marL="0" indent="0">
              <a:buNone/>
            </a:pPr>
            <a:r>
              <a:rPr lang="en-US" dirty="0"/>
              <a:t>  then the SVF files could be </a:t>
            </a:r>
          </a:p>
          <a:p>
            <a:pPr marL="0" indent="0">
              <a:buNone/>
            </a:pPr>
            <a:r>
              <a:rPr lang="en-US" dirty="0"/>
              <a:t>  generated for all pull up,</a:t>
            </a:r>
          </a:p>
          <a:p>
            <a:pPr marL="0" indent="0">
              <a:buNone/>
            </a:pPr>
            <a:r>
              <a:rPr lang="en-US" dirty="0"/>
              <a:t>  pull down resistors</a:t>
            </a:r>
          </a:p>
          <a:p>
            <a:pPr marL="0" indent="0">
              <a:buNone/>
            </a:pPr>
            <a:r>
              <a:rPr lang="en-US" dirty="0"/>
              <a:t>  and unknown </a:t>
            </a:r>
          </a:p>
          <a:p>
            <a:pPr marL="0" indent="0">
              <a:buNone/>
            </a:pPr>
            <a:r>
              <a:rPr lang="en-US" dirty="0"/>
              <a:t>  components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189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3A8EB-59A7-48DB-AC9D-56138C87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Application </a:t>
            </a:r>
            <a:br>
              <a:rPr lang="en-US" dirty="0"/>
            </a:br>
            <a:r>
              <a:rPr lang="en-US" dirty="0"/>
              <a:t>    overview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397FC029-87F4-4C1F-BB54-9DE858FDB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8467" y="0"/>
            <a:ext cx="8813533" cy="6878306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68AA01-D00E-4720-B45E-D0220BA2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192564D-A1CF-49F1-B11F-D1AD9D3C8FB4}"/>
              </a:ext>
            </a:extLst>
          </p:cNvPr>
          <p:cNvSpPr txBox="1">
            <a:spLocks/>
          </p:cNvSpPr>
          <p:nvPr/>
        </p:nvSpPr>
        <p:spPr>
          <a:xfrm>
            <a:off x="334108" y="1274885"/>
            <a:ext cx="11019692" cy="4924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There was</a:t>
            </a:r>
          </a:p>
          <a:p>
            <a:pPr marL="0" indent="0">
              <a:buNone/>
            </a:pPr>
            <a:r>
              <a:rPr lang="en-US" dirty="0"/>
              <a:t>  definitely provided</a:t>
            </a:r>
          </a:p>
          <a:p>
            <a:pPr marL="0" indent="0">
              <a:buNone/>
            </a:pPr>
            <a:r>
              <a:rPr lang="en-US" dirty="0"/>
              <a:t>  a </a:t>
            </a:r>
            <a:r>
              <a:rPr lang="en-US" dirty="0" err="1"/>
              <a:t>powerfull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graphical tool for</a:t>
            </a:r>
          </a:p>
          <a:p>
            <a:pPr marL="0" indent="0">
              <a:buNone/>
            </a:pPr>
            <a:r>
              <a:rPr lang="en-US" dirty="0"/>
              <a:t>  being able to </a:t>
            </a:r>
          </a:p>
          <a:p>
            <a:pPr marL="0" indent="0">
              <a:buNone/>
            </a:pPr>
            <a:r>
              <a:rPr lang="en-US" dirty="0"/>
              <a:t>  determine test</a:t>
            </a:r>
          </a:p>
          <a:p>
            <a:pPr marL="0" indent="0">
              <a:buNone/>
            </a:pPr>
            <a:r>
              <a:rPr lang="en-US" dirty="0"/>
              <a:t>  coverage values</a:t>
            </a:r>
          </a:p>
          <a:p>
            <a:pPr marL="0" indent="0">
              <a:buNone/>
            </a:pPr>
            <a:r>
              <a:rPr lang="en-US" dirty="0"/>
              <a:t>  and create SVF</a:t>
            </a:r>
          </a:p>
          <a:p>
            <a:pPr marL="0" indent="0">
              <a:buNone/>
            </a:pPr>
            <a:r>
              <a:rPr lang="en-US" dirty="0"/>
              <a:t>  files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043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BC706-A6CF-45B8-A4F3-AE937535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Live demonstration of the created tool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16DF46-1578-4AFB-8BCF-074CAD29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the software itself should be showed live…</a:t>
            </a:r>
          </a:p>
          <a:p>
            <a:r>
              <a:rPr lang="en-US" dirty="0"/>
              <a:t>Please enjoy!!!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8B9E7A-FDE6-4163-BB57-B1FDD5DF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7. </a:t>
            </a:r>
            <a:r>
              <a:rPr lang="en-US" dirty="0"/>
              <a:t>Live demonstration of the created tool</a:t>
            </a:r>
          </a:p>
        </p:txBody>
      </p:sp>
    </p:spTree>
    <p:extLst>
      <p:ext uri="{BB962C8B-B14F-4D97-AF65-F5344CB8AC3E}">
        <p14:creationId xmlns:p14="http://schemas.microsoft.com/office/powerpoint/2010/main" val="229797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807C1-9D94-4C8F-A476-74CFF722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Questions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15728F-1BE3-4011-ABFE-406933AE9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there any open questions regarding that project?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475CD4-6F66-4316-9C5B-87662621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Proprietary and confidential information of ProMik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7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925"/>
      </a:accent1>
      <a:accent2>
        <a:srgbClr val="000000"/>
      </a:accent2>
      <a:accent3>
        <a:srgbClr val="A8A9AD"/>
      </a:accent3>
      <a:accent4>
        <a:srgbClr val="328925"/>
      </a:accent4>
      <a:accent5>
        <a:srgbClr val="25661B"/>
      </a:accent5>
      <a:accent6>
        <a:srgbClr val="6FD460"/>
      </a:accent6>
      <a:hlink>
        <a:srgbClr val="00B0F0"/>
      </a:hlink>
      <a:folHlink>
        <a:srgbClr val="0070C0"/>
      </a:folHlink>
    </a:clrScheme>
    <a:fontScheme name="ProMik Fonts">
      <a:majorFont>
        <a:latin typeface="Bahnschrift SemiBold SemiConden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Breitbild</PresentationFormat>
  <Paragraphs>145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Bahnschrift</vt:lpstr>
      <vt:lpstr>Bahnschrift Light</vt:lpstr>
      <vt:lpstr>Bahnschrift SemiBold SemiConden</vt:lpstr>
      <vt:lpstr>Calibri</vt:lpstr>
      <vt:lpstr>Wingdings</vt:lpstr>
      <vt:lpstr>1_Office Theme</vt:lpstr>
      <vt:lpstr>Conceptual design and realization of a graphical tool for determining the test coverage of digital circuit diagrams</vt:lpstr>
      <vt:lpstr>Content</vt:lpstr>
      <vt:lpstr>1. Fundamentals</vt:lpstr>
      <vt:lpstr>2. Requirements</vt:lpstr>
      <vt:lpstr>3. Conceptual design</vt:lpstr>
      <vt:lpstr>3. Conceptual design</vt:lpstr>
      <vt:lpstr>3. Conceptual design</vt:lpstr>
      <vt:lpstr>3. Conceptual design</vt:lpstr>
      <vt:lpstr>3. Conceptual design</vt:lpstr>
      <vt:lpstr>3. Conceptual design</vt:lpstr>
      <vt:lpstr>4. Realization</vt:lpstr>
      <vt:lpstr>4. Realization</vt:lpstr>
      <vt:lpstr>4. Realization</vt:lpstr>
      <vt:lpstr>4. Realization</vt:lpstr>
      <vt:lpstr>5. Test coverage determination</vt:lpstr>
      <vt:lpstr>5. Test coverage determination</vt:lpstr>
      <vt:lpstr>5. Test coverage determination</vt:lpstr>
      <vt:lpstr>6. Application      overview</vt:lpstr>
      <vt:lpstr>7. Live demonstration of the created tool</vt:lpstr>
      <vt:lpstr>8.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ProMik GmbH</dc:title>
  <dc:creator>Rosenberger Jens</dc:creator>
  <cp:lastModifiedBy>Matis Razvan</cp:lastModifiedBy>
  <cp:revision>395</cp:revision>
  <dcterms:created xsi:type="dcterms:W3CDTF">2020-01-23T13:14:51Z</dcterms:created>
  <dcterms:modified xsi:type="dcterms:W3CDTF">2021-06-07T13:21:24Z</dcterms:modified>
</cp:coreProperties>
</file>